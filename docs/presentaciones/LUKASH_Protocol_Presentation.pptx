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9A84C"/>
                </a:solidFill>
                <a:latin typeface="Arial"/>
              </a:defRPr>
            </a:pPr>
            <a:r>
              <a:rPr sz="900" b="0" i="0" u="none" strike="noStrike">
                <a:solidFill>
                  <a:srgbClr val="C9A84C"/>
                </a:solidFill>
                <a:latin typeface="Arial"/>
              </a:rPr>
              <a:t>Costo de Adquisición de Cliente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USD</c:v>
                </c:pt>
              </c:strCache>
            </c:strRef>
          </c:tx>
          <c:spPr>
            <a:solidFill>
              <a:srgbClr val="8A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5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940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AA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TradFi</c:v>
                  </c:pt>
                  <c:pt idx="1">
                    <c:v>NuBank</c:v>
                  </c:pt>
                  <c:pt idx="2">
                    <c:v>LUKASH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5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6350" cap="flat">
              <a:solidFill>
                <a:srgbClr val="25252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9A84C"/>
                </a:solidFill>
                <a:latin typeface="Arial"/>
              </a:defRPr>
            </a:pPr>
            <a:r>
              <a:rPr sz="900" b="0" i="0" u="none" strike="noStrike">
                <a:solidFill>
                  <a:srgbClr val="C9A84C"/>
                </a:solidFill>
                <a:latin typeface="Arial"/>
              </a:rPr>
              <a:t>Proyección del Vault KASH (USD Millones) — Escenarios P25 / P50 / P75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P75 Vault</c:v>
                </c:pt>
              </c:strCache>
            </c:strRef>
          </c:tx>
          <c:spPr>
            <a:solidFill>
              <a:srgbClr val="C9A84C"/>
            </a:solidFill>
            <a:ln w="3175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M0</c:v>
                  </c:pt>
                  <c:pt idx="1">
                    <c:v>M6</c:v>
                  </c:pt>
                  <c:pt idx="2">
                    <c:v>M12</c:v>
                  </c:pt>
                  <c:pt idx="3">
                    <c:v>M18</c:v>
                  </c:pt>
                  <c:pt idx="4">
                    <c:v>M24</c:v>
                  </c:pt>
                  <c:pt idx="5">
                    <c:v>M36</c:v>
                  </c:pt>
                  <c:pt idx="6">
                    <c:v>M48</c:v>
                  </c:pt>
                  <c:pt idx="7">
                    <c:v>M60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8</c:v>
                </c:pt>
                <c:pt idx="2">
                  <c:v>18</c:v>
                </c:pt>
                <c:pt idx="3">
                  <c:v>28</c:v>
                </c:pt>
                <c:pt idx="4">
                  <c:v>40</c:v>
                </c:pt>
                <c:pt idx="5">
                  <c:v>55</c:v>
                </c:pt>
                <c:pt idx="6">
                  <c:v>62</c:v>
                </c:pt>
                <c:pt idx="7">
                  <c:v>67.1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P50 Vault</c:v>
                </c:pt>
              </c:strCache>
            </c:strRef>
          </c:tx>
          <c:spPr>
            <a:solidFill>
              <a:srgbClr val="3DAA6B"/>
            </a:solidFill>
            <a:ln w="31750" cap="flat">
              <a:solidFill>
                <a:srgbClr val="3DAA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AA6B"/>
              </a:solidFill>
              <a:ln w="9525" cap="flat">
                <a:solidFill>
                  <a:srgbClr val="3DAA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M0</c:v>
                  </c:pt>
                  <c:pt idx="1">
                    <c:v>M6</c:v>
                  </c:pt>
                  <c:pt idx="2">
                    <c:v>M12</c:v>
                  </c:pt>
                  <c:pt idx="3">
                    <c:v>M18</c:v>
                  </c:pt>
                  <c:pt idx="4">
                    <c:v>M24</c:v>
                  </c:pt>
                  <c:pt idx="5">
                    <c:v>M36</c:v>
                  </c:pt>
                  <c:pt idx="6">
                    <c:v>M48</c:v>
                  </c:pt>
                  <c:pt idx="7">
                    <c:v>M60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12</c:v>
                </c:pt>
                <c:pt idx="3">
                  <c:v>20</c:v>
                </c:pt>
                <c:pt idx="4">
                  <c:v>30</c:v>
                </c:pt>
                <c:pt idx="5">
                  <c:v>42</c:v>
                </c:pt>
                <c:pt idx="6">
                  <c:v>48</c:v>
                </c:pt>
                <c:pt idx="7">
                  <c:v>52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P25 Vault</c:v>
                </c:pt>
              </c:strCache>
            </c:strRef>
          </c:tx>
          <c:spPr>
            <a:solidFill>
              <a:srgbClr val="8A8A8A"/>
            </a:solidFill>
            <a:ln w="31750" cap="flat">
              <a:solidFill>
                <a:srgbClr val="8A8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8A8A"/>
              </a:solidFill>
              <a:ln w="9525" cap="flat">
                <a:solidFill>
                  <a:srgbClr val="8A8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M0</c:v>
                  </c:pt>
                  <c:pt idx="1">
                    <c:v>M6</c:v>
                  </c:pt>
                  <c:pt idx="2">
                    <c:v>M12</c:v>
                  </c:pt>
                  <c:pt idx="3">
                    <c:v>M18</c:v>
                  </c:pt>
                  <c:pt idx="4">
                    <c:v>M24</c:v>
                  </c:pt>
                  <c:pt idx="5">
                    <c:v>M36</c:v>
                  </c:pt>
                  <c:pt idx="6">
                    <c:v>M48</c:v>
                  </c:pt>
                  <c:pt idx="7">
                    <c:v>M60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13</c:v>
                </c:pt>
                <c:pt idx="4">
                  <c:v>18.9</c:v>
                </c:pt>
                <c:pt idx="5">
                  <c:v>28</c:v>
                </c:pt>
                <c:pt idx="6">
                  <c:v>32</c:v>
                </c:pt>
                <c:pt idx="7">
                  <c:v>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25252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8A8A8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bubble3D val="0"/>
            <c:spPr>
              <a:solidFill>
                <a:srgbClr val="3DAA6B"/>
              </a:solidFill>
              <a:effectLst/>
            </c:spPr>
          </c:dPt>
          <c:dPt>
            <c:idx val="2"/>
            <c:bubble3D val="0"/>
            <c:spPr>
              <a:solidFill>
                <a:srgbClr val="E8940A"/>
              </a:solidFill>
              <a:effectLst/>
            </c:spPr>
          </c:dPt>
          <c:dPt>
            <c:idx val="3"/>
            <c:bubble3D val="0"/>
            <c:spPr>
              <a:solidFill>
                <a:srgbClr val="8A8A8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A0A0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A0A0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A0A0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A0A0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Desarrollo Técnico</c:v>
                </c:pt>
                <c:pt idx="1">
                  <c:v>Liquidez Vault</c:v>
                </c:pt>
                <c:pt idx="2">
                  <c:v>Marketing &amp; KOLs</c:v>
                </c:pt>
                <c:pt idx="3">
                  <c:v>Legal &amp; Compliance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A8A8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1828800"/>
            <a:ext cx="7315200" cy="7315200"/>
          </a:xfrm>
          <a:prstGeom prst="ellipse">
            <a:avLst/>
          </a:prstGeom>
          <a:solidFill>
            <a:srgbClr val="0D2010">
              <a:alpha val="35000"/>
            </a:srgbClr>
          </a:solidFill>
          <a:ln w="12700">
            <a:solidFill>
              <a:srgbClr val="0A0A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1A1200">
              <a:alpha val="30000"/>
            </a:srgbClr>
          </a:solidFill>
          <a:ln w="12700">
            <a:solidFill>
              <a:srgbClr val="0A0A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228600"/>
            <a:ext cx="3840480" cy="2093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LUKASH PROTOCOL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 Financiera Descentralizada para Latinoamérica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26080" y="3200400"/>
            <a:ext cx="329184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46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8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 Canvas v2.0  ·  Motores A–D  ·  Estándar KASH  ·  LUKAI v3.1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3611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Sebastián Botero Pabón  |  Arquitecto del Protocolo  |  Marzo 2026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00400" y="4434840"/>
            <a:ext cx="2743200" cy="45720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1517904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EL PROBLEMA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45720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¿Tenemos apps para gastar…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no infraestructura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progresar?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de los 650M de latinoamericanos en la economía digital.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411480"/>
            <a:ext cx="3520440" cy="1234440"/>
          </a:xfrm>
          <a:prstGeom prst="rect">
            <a:avLst/>
          </a:prstGeom>
          <a:solidFill>
            <a:srgbClr val="141414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411480"/>
            <a:ext cx="36576" cy="1234440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7256" y="457200"/>
            <a:ext cx="33375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77256" y="1127455"/>
            <a:ext cx="33375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apps de pago digital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(Banco Mundial)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49240" y="1764792"/>
            <a:ext cx="3520440" cy="1234440"/>
          </a:xfrm>
          <a:prstGeom prst="rect">
            <a:avLst/>
          </a:prstGeom>
          <a:solidFill>
            <a:srgbClr val="141414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764792"/>
            <a:ext cx="36576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7256" y="1810512"/>
            <a:ext cx="33375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77256" y="2480767"/>
            <a:ext cx="33375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crédito real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(Banco Mundial)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49240" y="3118104"/>
            <a:ext cx="3520440" cy="1234440"/>
          </a:xfrm>
          <a:prstGeom prst="rect">
            <a:avLst/>
          </a:prstGeom>
          <a:solidFill>
            <a:srgbClr val="141414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3118104"/>
            <a:ext cx="36576" cy="1234440"/>
          </a:xfrm>
          <a:prstGeom prst="rect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3163824"/>
            <a:ext cx="33375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9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77256" y="3834079"/>
            <a:ext cx="33375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informal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(OIT - Panorama Laboral)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3063240"/>
            <a:ext cx="4572000" cy="18288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08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actual no genera soberanía. Genera dependencia.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1517904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LA SOLUCIÓN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LUKASH Protocol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app. Es una arquitectura financiera soberana.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261872"/>
            <a:ext cx="2743200" cy="3429000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261872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371600"/>
            <a:ext cx="73152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Estándar KASH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8912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 de Colateralización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Multiactivo (PCM)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2926080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$LUKA respaldada por reserva creciente de activos duros: cBTC, USDC, RWA. Precio algorítmico con garantía matemática.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P_KASH = Vault ÷ Supply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73552" y="1261872"/>
            <a:ext cx="2743200" cy="3429000"/>
          </a:xfrm>
          <a:prstGeom prst="rect">
            <a:avLst/>
          </a:prstGeom>
          <a:solidFill>
            <a:srgbClr val="141414"/>
          </a:solidFill>
          <a:ln w="9525">
            <a:solidFill>
              <a:srgbClr val="E8940A">
                <a:alpha val="5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73552" y="1261872"/>
            <a:ext cx="2743200" cy="36576"/>
          </a:xfrm>
          <a:prstGeom prst="rect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371600"/>
            <a:ext cx="731520" cy="7315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64992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LUKAI v3.1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364992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Conversacional Orquestadora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383280" y="2926080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financiero digital que guía cada Jaguar. Elimina barreras técnicas de DeFi. Gestiona estados B0/B2, monitorea K(t) y personaliza la experiencia.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199632" y="1261872"/>
            <a:ext cx="2743200" cy="3429000"/>
          </a:xfrm>
          <a:prstGeom prst="rect">
            <a:avLst/>
          </a:prstGeom>
          <a:solidFill>
            <a:srgbClr val="141414"/>
          </a:solidFill>
          <a:ln w="9525">
            <a:solidFill>
              <a:srgbClr val="3DAA6B">
                <a:alpha val="5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99632" y="1261872"/>
            <a:ext cx="2743200" cy="36576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371600"/>
            <a:ext cx="731520" cy="7315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91072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A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Manadas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291072" y="2496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Infraestructura Cultural de Ahorro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309360" y="2926080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ahorro comunitario gamificados. CAC viral de $3 USD. Motor B del protocolo. El canal más potente de adquisición y retención.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3072384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PRECIO KASH — NÚCLEO DEL MODELO</a:t>
            </a:r>
            <a:endParaRPr lang="en-US" sz="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5212080" y="320040"/>
            <a:ext cx="3566160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114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Intrínseco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Creciente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11480" y="1261872"/>
            <a:ext cx="4480560" cy="685800"/>
          </a:xfrm>
          <a:prstGeom prst="rect">
            <a:avLst/>
          </a:prstGeom>
          <a:solidFill>
            <a:srgbClr val="0D0D0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26187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P_KASH = Vault ÷ Supply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11480" y="19933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precio garantizado por activos reales · No por especulación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31720"/>
          <a:ext cx="4480560" cy="164592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AÑO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VAULT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CRECIMIENTO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Año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$25M – $40M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Año 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$40M – $65M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Año 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$65M – $85M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104x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Año 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$100M+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2528316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2528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LOS 4 MOTORES ECONÓMICOS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Ingresos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0" y="886968"/>
            <a:ext cx="2743200" cy="256032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86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 UNIVERSAL: 35 / 35 / 15 / 15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" y="1234440"/>
            <a:ext cx="4251960" cy="1627632"/>
          </a:xfrm>
          <a:prstGeom prst="rect">
            <a:avLst/>
          </a:prstGeom>
          <a:solidFill>
            <a:srgbClr val="141414"/>
          </a:solidFill>
          <a:ln w="9525">
            <a:solidFill>
              <a:srgbClr val="E8940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234440"/>
            <a:ext cx="54864" cy="1627632"/>
          </a:xfrm>
          <a:prstGeom prst="rect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1371600"/>
            <a:ext cx="475488" cy="475488"/>
          </a:xfrm>
          <a:prstGeom prst="ellipse">
            <a:avLst/>
          </a:prstGeom>
          <a:solidFill>
            <a:srgbClr val="E8940A">
              <a:alpha val="25000"/>
            </a:srgbClr>
          </a:solidFill>
          <a:ln w="6350">
            <a:solidFill>
              <a:srgbClr val="E894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2416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1600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Trading &amp; Market Making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10712" y="1344168"/>
            <a:ext cx="1051560" cy="228600"/>
          </a:xfrm>
          <a:prstGeom prst="rect">
            <a:avLst/>
          </a:prstGeom>
          <a:solidFill>
            <a:srgbClr val="E8940A">
              <a:alpha val="20000"/>
            </a:srgbClr>
          </a:solidFill>
          <a:ln w="3810">
            <a:solidFill>
              <a:srgbClr val="E89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3441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9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Fee: 4% → 0.5%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10712" y="1618488"/>
            <a:ext cx="1051560" cy="228600"/>
          </a:xfrm>
          <a:prstGeom prst="rect">
            <a:avLst/>
          </a:prstGeom>
          <a:solidFill>
            <a:srgbClr val="E8940A">
              <a:alpha val="20000"/>
            </a:srgbClr>
          </a:solidFill>
          <a:ln w="3810">
            <a:solidFill>
              <a:srgbClr val="E894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16184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9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Dist: 35%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5488" y="1947672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 de trading, spread de mercado, liquidez DeFi. Principal fuente de ingresos en Etapa 1.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82312" y="1234440"/>
            <a:ext cx="4251960" cy="1627632"/>
          </a:xfrm>
          <a:prstGeom prst="rect">
            <a:avLst/>
          </a:prstGeom>
          <a:solidFill>
            <a:srgbClr val="141414"/>
          </a:solidFill>
          <a:ln w="9525">
            <a:solidFill>
              <a:srgbClr val="3DAA6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82312" y="1234440"/>
            <a:ext cx="54864" cy="162763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1371600"/>
            <a:ext cx="475488" cy="475488"/>
          </a:xfrm>
          <a:prstGeom prst="ellipse">
            <a:avLst/>
          </a:prstGeom>
          <a:solidFill>
            <a:srgbClr val="3DAA6B">
              <a:alpha val="25000"/>
            </a:srgbClr>
          </a:solidFill>
          <a:ln w="6350">
            <a:solidFill>
              <a:srgbClr val="3DA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77256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A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77256" y="1600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Manadas &amp; Comunidad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45552" y="1344168"/>
            <a:ext cx="1051560" cy="228600"/>
          </a:xfrm>
          <a:prstGeom prst="rect">
            <a:avLst/>
          </a:prstGeom>
          <a:solidFill>
            <a:srgbClr val="3DAA6B">
              <a:alpha val="20000"/>
            </a:srgbClr>
          </a:solidFill>
          <a:ln w="3810">
            <a:solidFill>
              <a:srgbClr val="3DA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13441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Fee: 1.5% fijo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845552" y="1618488"/>
            <a:ext cx="1051560" cy="228600"/>
          </a:xfrm>
          <a:prstGeom prst="rect">
            <a:avLst/>
          </a:prstGeom>
          <a:solidFill>
            <a:srgbClr val="3DAA6B">
              <a:alpha val="20000"/>
            </a:srgbClr>
          </a:solidFill>
          <a:ln w="3810">
            <a:solidFill>
              <a:srgbClr val="3DA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16184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Dist: 35%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10328" y="1947672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Manadas, ahorro comunitario gamificado, Jaguar Score. CAC viral $3 USD.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2971800"/>
            <a:ext cx="4251960" cy="1627632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2971800"/>
            <a:ext cx="54864" cy="16276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" y="3108960"/>
            <a:ext cx="475488" cy="475488"/>
          </a:xfrm>
          <a:prstGeom prst="ellipse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42416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42416" y="3337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Stablecoins &amp; RWA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10712" y="3081528"/>
            <a:ext cx="1051560" cy="228600"/>
          </a:xfrm>
          <a:prstGeom prst="rect">
            <a:avLst/>
          </a:prstGeom>
          <a:solidFill>
            <a:srgbClr val="C9A84C">
              <a:alpha val="20000"/>
            </a:srgbClr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30815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Fee: Variable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410712" y="3355848"/>
            <a:ext cx="1051560" cy="228600"/>
          </a:xfrm>
          <a:prstGeom prst="rect">
            <a:avLst/>
          </a:prstGeom>
          <a:solidFill>
            <a:srgbClr val="C9A84C">
              <a:alpha val="20000"/>
            </a:srgbClr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3355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Dist: 15%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75488" y="3685032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Rendimientos USDC en Vault, tokenización de activos reales, pools de liquidez estable.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82312" y="2971800"/>
            <a:ext cx="4251960" cy="1627632"/>
          </a:xfrm>
          <a:prstGeom prst="rect">
            <a:avLst/>
          </a:prstGeom>
          <a:solidFill>
            <a:srgbClr val="141414"/>
          </a:solidFill>
          <a:ln w="9525">
            <a:solidFill>
              <a:srgbClr val="7B68EE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82312" y="2971800"/>
            <a:ext cx="54864" cy="162763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19472" y="3108960"/>
            <a:ext cx="475488" cy="475488"/>
          </a:xfrm>
          <a:prstGeom prst="ellipse">
            <a:avLst/>
          </a:prstGeom>
          <a:solidFill>
            <a:srgbClr val="7B68EE">
              <a:alpha val="25000"/>
            </a:srgbClr>
          </a:solidFill>
          <a:ln w="6350">
            <a:solidFill>
              <a:srgbClr val="7B68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77256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6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77256" y="3337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Finance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845552" y="3081528"/>
            <a:ext cx="1051560" cy="228600"/>
          </a:xfrm>
          <a:prstGeom prst="rect">
            <a:avLst/>
          </a:prstGeom>
          <a:solidFill>
            <a:srgbClr val="7B68EE">
              <a:alpha val="20000"/>
            </a:srgbClr>
          </a:solidFill>
          <a:ln w="3810">
            <a:solidFill>
              <a:srgbClr val="7B68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45552" y="30815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B6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Fee: 1.5% fijo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845552" y="3355848"/>
            <a:ext cx="1051560" cy="228600"/>
          </a:xfrm>
          <a:prstGeom prst="rect">
            <a:avLst/>
          </a:prstGeom>
          <a:solidFill>
            <a:srgbClr val="7B68EE">
              <a:alpha val="20000"/>
            </a:srgbClr>
          </a:solidFill>
          <a:ln w="3810">
            <a:solidFill>
              <a:srgbClr val="7B68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45552" y="33558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B6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Dist: 15%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910328" y="3685032"/>
            <a:ext cx="3995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P2P en Manadas, crédito respaldado por Jaguar Score. cNFT DeFi exentos.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3072384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SEGMENTOS &amp; FUNNEL DE SOBERANÍA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3840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Jaguares y Manadas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" y="896112"/>
            <a:ext cx="4251960" cy="2240280"/>
          </a:xfrm>
          <a:prstGeom prst="rect">
            <a:avLst/>
          </a:prstGeom>
          <a:solidFill>
            <a:srgbClr val="141414"/>
          </a:solidFill>
          <a:ln w="9525">
            <a:solidFill>
              <a:srgbClr val="3DAA6B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896112"/>
            <a:ext cx="4251960" cy="36576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941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A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Nativos de la Atención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12618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– 25 años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" y="153619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DA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Motivación: </a:t>
            </a:r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gamificación, status social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" y="19751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Barrera: </a:t>
            </a:r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crediticio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24140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DA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LUKASH: </a:t>
            </a:r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Score como currículum financiero digital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82312" y="896112"/>
            <a:ext cx="4251960" cy="2240280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82312" y="896112"/>
            <a:ext cx="42519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941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Buscadores de Soberanía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12618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– 45 años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19472" y="153619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DA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Motivación: </a:t>
            </a:r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Preservación de valor, comunidad, acceso a crédito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9472" y="19751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9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Barrera: </a:t>
            </a:r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 e invisibilidad financiera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9472" y="24140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LUKASH: </a:t>
            </a:r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Manadas + Estándar KASH como reserva personal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218688"/>
            <a:ext cx="8449056" cy="18288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644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Funnel de Soberanía — Evolución del Jaguar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3566160"/>
            <a:ext cx="274320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8A8A8A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566160"/>
            <a:ext cx="2743200" cy="3657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6112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Jungle Arena + LUKAI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90672" y="4133088"/>
            <a:ext cx="182880" cy="18288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73552" y="3566160"/>
            <a:ext cx="274320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E8940A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3566160"/>
            <a:ext cx="2743200" cy="36576"/>
          </a:xfrm>
          <a:prstGeom prst="rect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22192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9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TRANSACCIONAL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 + B activos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16752" y="4133088"/>
            <a:ext cx="182880" cy="18288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9632" y="3566160"/>
            <a:ext cx="2743200" cy="1261872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356616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48272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SOBERANÍA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Lock + distribución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2061972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2061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FUENTES DE INGRESO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384048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Autosostenible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Deflacionario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JERARQUÍA DE FEES POR ETAPA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41148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64592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ETAPA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USUARIO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Etapa 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4.0%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Jaguar Cub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Etapa 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2.5%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Jaguar Active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Etapa 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F5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Jaguar Soberano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5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3090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DISTRIBUCIÓN DE FEES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3401568"/>
            <a:ext cx="4114800" cy="201168"/>
          </a:xfrm>
          <a:prstGeom prst="rect">
            <a:avLst/>
          </a:prstGeom>
          <a:solidFill>
            <a:srgbClr val="141414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54480" y="3401568"/>
            <a:ext cx="960120" cy="20116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3401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4400" y="34015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 Vault (crecimiento)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11480" y="3639312"/>
            <a:ext cx="4114800" cy="201168"/>
          </a:xfrm>
          <a:prstGeom prst="rect">
            <a:avLst/>
          </a:prstGeom>
          <a:solidFill>
            <a:srgbClr val="141414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54480" y="3639312"/>
            <a:ext cx="960120" cy="201168"/>
          </a:xfrm>
          <a:prstGeom prst="rect">
            <a:avLst/>
          </a:prstGeom>
          <a:solidFill>
            <a:srgbClr val="3DAA6B">
              <a:alpha val="35000"/>
            </a:srgbClr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" y="36393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14400" y="36393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 Sociedad (inversores)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11480" y="3877056"/>
            <a:ext cx="4114800" cy="201168"/>
          </a:xfrm>
          <a:prstGeom prst="rect">
            <a:avLst/>
          </a:prstGeom>
          <a:solidFill>
            <a:srgbClr val="141414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554480" y="3877056"/>
            <a:ext cx="411480" cy="201168"/>
          </a:xfrm>
          <a:prstGeom prst="rect">
            <a:avLst/>
          </a:prstGeom>
          <a:solidFill>
            <a:srgbClr val="E8940A">
              <a:alpha val="35000"/>
            </a:srgbClr>
          </a:solidFill>
          <a:ln w="12700">
            <a:solidFill>
              <a:srgbClr val="E8940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" y="3877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9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14400" y="38770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Quema deflacionaria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11480" y="4114800"/>
            <a:ext cx="4114800" cy="201168"/>
          </a:xfrm>
          <a:prstGeom prst="rect">
            <a:avLst/>
          </a:prstGeom>
          <a:solidFill>
            <a:srgbClr val="141414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554480" y="4114800"/>
            <a:ext cx="411480" cy="201168"/>
          </a:xfrm>
          <a:prstGeom prst="rect">
            <a:avLst/>
          </a:prstGeom>
          <a:solidFill>
            <a:srgbClr val="8A8A8A">
              <a:alpha val="35000"/>
            </a:srgbClr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" y="4114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14400" y="4114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y mantenimiento</a:t>
            </a:r>
            <a:endParaRPr lang="en-US" sz="8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5029200" y="347472"/>
            <a:ext cx="3749040" cy="374904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937760" y="4114800"/>
            <a:ext cx="3840480" cy="530352"/>
          </a:xfrm>
          <a:prstGeom prst="rect">
            <a:avLst/>
          </a:prstGeom>
          <a:solidFill>
            <a:srgbClr val="141414"/>
          </a:solidFill>
          <a:ln w="9525">
            <a:solidFill>
              <a:srgbClr val="3DAA6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937760" y="41148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DA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perpetua al inversor desde el Mes 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2217420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2217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EFICIENCIA OPERATIVA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384048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eficiente que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cualquier referente.</a:t>
            </a:r>
            <a:endParaRPr lang="en-US" sz="2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47472" y="1261872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39136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 USD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 LUKASH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411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 POR TRANSACCIÓN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37760" y="749808"/>
            <a:ext cx="3840480" cy="713232"/>
          </a:xfrm>
          <a:prstGeom prst="rect">
            <a:avLst/>
          </a:prstGeom>
          <a:solidFill>
            <a:srgbClr val="141414"/>
          </a:solidFill>
          <a:ln w="6350">
            <a:solidFill>
              <a:srgbClr val="8A8A8A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749808"/>
            <a:ext cx="36576" cy="713232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47488" y="8046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Internacional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47488" y="107899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$20–65 USD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937760" y="1572768"/>
            <a:ext cx="3840480" cy="713232"/>
          </a:xfrm>
          <a:prstGeom prst="rect">
            <a:avLst/>
          </a:prstGeom>
          <a:solidFill>
            <a:srgbClr val="141414"/>
          </a:solidFill>
          <a:ln w="6350">
            <a:solidFill>
              <a:srgbClr val="8A8A8A">
                <a:alpha val="5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0" y="1572768"/>
            <a:ext cx="36576" cy="713232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162763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crédito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47488" y="190195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$1.5–3.5 USD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937760" y="2395728"/>
            <a:ext cx="3840480" cy="713232"/>
          </a:xfrm>
          <a:prstGeom prst="rect">
            <a:avLst/>
          </a:prstGeom>
          <a:solidFill>
            <a:srgbClr val="141414"/>
          </a:solidFill>
          <a:ln w="6350">
            <a:solidFill>
              <a:srgbClr val="E8940A">
                <a:alpha val="5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2395728"/>
            <a:ext cx="36576" cy="713232"/>
          </a:xfrm>
          <a:prstGeom prst="rect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47488" y="24505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 / Neobancos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47488" y="27249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9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$0.10–0.50 USD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937760" y="3218688"/>
            <a:ext cx="3840480" cy="713232"/>
          </a:xfrm>
          <a:prstGeom prst="rect">
            <a:avLst/>
          </a:prstGeom>
          <a:solidFill>
            <a:srgbClr val="141414"/>
          </a:solidFill>
          <a:ln w="6350">
            <a:solidFill>
              <a:srgbClr val="3DAA6B">
                <a:alpha val="5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0" y="3218688"/>
            <a:ext cx="36576" cy="713232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47488" y="32735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LUKASH (Solana)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47488" y="354787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$0.00025 USD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2295144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VALIDACIÓN MATEMÁTICA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38404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Inviolabilidad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Matemática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7472" y="1325880"/>
            <a:ext cx="205740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325880"/>
            <a:ext cx="36576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371600"/>
            <a:ext cx="18745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" y="2015338"/>
            <a:ext cx="1874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Simulaciones Monte Carlo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1,825 días simulados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1325880"/>
            <a:ext cx="205740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325880"/>
            <a:ext cx="36576" cy="1188720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1371600"/>
            <a:ext cx="18745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88336" y="2015338"/>
            <a:ext cx="1874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Ruina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neutro validado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73168" y="1325880"/>
            <a:ext cx="205740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1325880"/>
            <a:ext cx="36576" cy="1188720"/>
          </a:xfrm>
          <a:prstGeom prst="rect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371600"/>
            <a:ext cx="18745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9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01184" y="2015338"/>
            <a:ext cx="1874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espiral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Jaguar Shield activo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86016" y="1325880"/>
            <a:ext cx="205740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1325880"/>
            <a:ext cx="36576" cy="1188720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371600"/>
            <a:ext cx="18745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+22%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14032" y="2015338"/>
            <a:ext cx="1874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módulo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contra-cíclico vs fijo</a:t>
            </a:r>
            <a:endParaRPr lang="en-US" sz="8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47472" y="2633472"/>
          <a:ext cx="8449056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1828800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ROADMAP E HITOS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Crecimiento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8321040" cy="36576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896112"/>
            <a:ext cx="2103120" cy="1463040"/>
          </a:xfrm>
          <a:prstGeom prst="rect">
            <a:avLst/>
          </a:prstGeom>
          <a:solidFill>
            <a:srgbClr val="141414"/>
          </a:solidFill>
          <a:ln w="9525">
            <a:solidFill>
              <a:srgbClr val="E8940A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896112"/>
            <a:ext cx="2103120" cy="36576"/>
          </a:xfrm>
          <a:prstGeom prst="rect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969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9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170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K_min $25M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70078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en Solana. Motor A activo. LUKAI v3.1 operativo. Primeras Manadas. Jungle Arena.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289304" y="2377440"/>
            <a:ext cx="219456" cy="219456"/>
          </a:xfrm>
          <a:prstGeom prst="ellipse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9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K_min $25M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0" y="896112"/>
            <a:ext cx="2103120" cy="1463040"/>
          </a:xfrm>
          <a:prstGeom prst="rect">
            <a:avLst/>
          </a:prstGeom>
          <a:solidFill>
            <a:srgbClr val="141414"/>
          </a:solidFill>
          <a:ln w="9525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896112"/>
            <a:ext cx="21031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969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70048" y="1170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4–12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70048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Jaguar Lock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70048" y="170078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Motor B y C. Expansión Manadas. Jaguar Score en cadena. Estado B0 → B2.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502152" y="2377440"/>
            <a:ext cx="219456" cy="21945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Jaguar Lock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73168" y="896112"/>
            <a:ext cx="2103120" cy="1463040"/>
          </a:xfrm>
          <a:prstGeom prst="rect">
            <a:avLst/>
          </a:prstGeom>
          <a:solidFill>
            <a:srgbClr val="141414"/>
          </a:solidFill>
          <a:ln w="9525">
            <a:solidFill>
              <a:srgbClr val="3DAA6B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896112"/>
            <a:ext cx="2103120" cy="36576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969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82896" y="1170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13+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82896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A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Perpetua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82896" y="170078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directo al inversor. Motor D activo. Préstamos Manada. K_min $30M confirmado.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715000" y="2377440"/>
            <a:ext cx="219456" cy="219456"/>
          </a:xfrm>
          <a:prstGeom prst="ellipse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Distribución Perpetua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86016" y="896112"/>
            <a:ext cx="2103120" cy="1463040"/>
          </a:xfrm>
          <a:prstGeom prst="rect">
            <a:avLst/>
          </a:prstGeom>
          <a:solidFill>
            <a:srgbClr val="141414"/>
          </a:solidFill>
          <a:ln w="9525">
            <a:solidFill>
              <a:srgbClr val="3DAA6B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86016" y="896112"/>
            <a:ext cx="2103120" cy="36576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95744" y="969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95744" y="1170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24–36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095744" y="1371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A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$100M Vault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95744" y="170078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regional. Nuevos aliados RWA. Sandbox regulatorio SFC Colombia. Escala LATAM.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927848" y="2377440"/>
            <a:ext cx="219456" cy="219456"/>
          </a:xfrm>
          <a:prstGeom prst="ellipse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$100M Vault</a:t>
            </a:r>
            <a:endParaRPr lang="en-US" sz="8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274320" y="2926080"/>
            <a:ext cx="8595360" cy="1993392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411480" y="30175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Simulación Monte Carlo: con los aliados correctos → $100M en 12–24 meses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1984248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CAPITAL REQUERIDO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3840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$800,000 USD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semilla con desembolso por hitos — Sistema Jaguar Lock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47472" y="132588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074920" y="38404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JAGUAR LOCK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74920" y="731520"/>
            <a:ext cx="3703320" cy="685800"/>
          </a:xfrm>
          <a:prstGeom prst="rect">
            <a:avLst/>
          </a:prstGeom>
          <a:solidFill>
            <a:srgbClr val="141414"/>
          </a:solidFill>
          <a:ln w="6350">
            <a:solidFill>
              <a:srgbClr val="E8940A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0" y="8046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4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50992" y="8595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 lineal por metas técnicas cumplidas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74920" y="1536192"/>
            <a:ext cx="3703320" cy="68580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66360" y="160934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650992" y="1664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total: sin liberación sin hito validado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74920" y="2340864"/>
            <a:ext cx="3703320" cy="685800"/>
          </a:xfrm>
          <a:prstGeom prst="rect">
            <a:avLst/>
          </a:prstGeom>
          <a:solidFill>
            <a:srgbClr val="141414"/>
          </a:solidFill>
          <a:ln w="6350">
            <a:solidFill>
              <a:srgbClr val="3DAA6B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24140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A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650992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Reinversión orgánica desde el Vault Sociedad Etapa 1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74920" y="3145536"/>
            <a:ext cx="3703320" cy="685800"/>
          </a:xfrm>
          <a:prstGeom prst="rect">
            <a:avLst/>
          </a:prstGeom>
          <a:solidFill>
            <a:srgbClr val="141414"/>
          </a:solidFill>
          <a:ln w="6350">
            <a:solidFill>
              <a:srgbClr val="3DAA6B">
                <a:alpha val="5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6360" y="32186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A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650992" y="3273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dilución del inversor en escalamiento Etapa 2+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3020">
              <a:alpha val="30000"/>
            </a:srgbClr>
          </a:solidFill>
          <a:ln w="12700">
            <a:solidFill>
              <a:srgbClr val="0D3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20840" y="4434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347472" y="274320"/>
            <a:ext cx="2450592" cy="201168"/>
          </a:xfrm>
          <a:prstGeom prst="rect">
            <a:avLst/>
          </a:prstGeom>
          <a:solidFill>
            <a:srgbClr val="C9A84C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7432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RETORNO PARA INVERSORES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347472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Crecimiento +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Constante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" y="1298448"/>
            <a:ext cx="4251960" cy="1572768"/>
          </a:xfrm>
          <a:prstGeom prst="rect">
            <a:avLst/>
          </a:prstGeom>
          <a:solidFill>
            <a:srgbClr val="141414"/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98448"/>
            <a:ext cx="4251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40817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12064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 de Valor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22311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directa en el KASH Vault Sociedad. Su capital crece con el protocolo.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298448"/>
            <a:ext cx="4251960" cy="1572768"/>
          </a:xfrm>
          <a:prstGeom prst="rect">
            <a:avLst/>
          </a:prstGeom>
          <a:solidFill>
            <a:srgbClr val="141414"/>
          </a:solidFill>
          <a:ln w="12700">
            <a:solidFill>
              <a:srgbClr val="3DAA6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98448"/>
            <a:ext cx="4251960" cy="45720"/>
          </a:xfrm>
          <a:prstGeom prst="rect">
            <a:avLst/>
          </a:prstGeom>
          <a:solidFill>
            <a:srgbClr val="3DAA6B"/>
          </a:solidFill>
          <a:ln w="12700">
            <a:solidFill>
              <a:srgbClr val="3DA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40817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A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13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19472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Distribución Perpetua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9472" y="22311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directo y continuo de ingresos generados por la reserva, sin fecha de término.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990088"/>
            <a:ext cx="4251960" cy="1572768"/>
          </a:xfrm>
          <a:prstGeom prst="rect">
            <a:avLst/>
          </a:prstGeom>
          <a:solidFill>
            <a:srgbClr val="141414"/>
          </a:solidFill>
          <a:ln w="12700">
            <a:solidFill>
              <a:srgbClr val="E8940A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990088"/>
            <a:ext cx="4251960" cy="45720"/>
          </a:xfrm>
          <a:prstGeom prst="rect">
            <a:avLst/>
          </a:prstGeom>
          <a:solidFill>
            <a:srgbClr val="E8940A"/>
          </a:solidFill>
          <a:ln w="12700">
            <a:solidFill>
              <a:srgbClr val="E894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09981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9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12064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Dilución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" y="3922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escalamiento se financia por el propio Vault Sociedad. Sin nuevas rondas que diluyan.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990088"/>
            <a:ext cx="4251960" cy="1572768"/>
          </a:xfrm>
          <a:prstGeom prst="rect">
            <a:avLst/>
          </a:prstGeom>
          <a:solidFill>
            <a:srgbClr val="141414"/>
          </a:solidFill>
          <a:ln w="1270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990088"/>
            <a:ext cx="42519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09981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Jaguar Lock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919472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 de Capital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3922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 por hitos validados. Su inversión no se libera sin resultados técnicos comprobados.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-914400"/>
            <a:ext cx="6400800" cy="6400800"/>
          </a:xfrm>
          <a:prstGeom prst="ellipse">
            <a:avLst/>
          </a:prstGeom>
          <a:solidFill>
            <a:srgbClr val="0D2010">
              <a:alpha val="40000"/>
            </a:srgbClr>
          </a:solidFill>
          <a:ln w="12700">
            <a:solidFill>
              <a:srgbClr val="0A0A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457200"/>
            <a:ext cx="4114800" cy="4114800"/>
          </a:xfrm>
          <a:prstGeom prst="ellipse">
            <a:avLst/>
          </a:prstGeom>
          <a:solidFill>
            <a:srgbClr val="1A1200">
              <a:alpha val="35000"/>
            </a:srgbClr>
          </a:solidFill>
          <a:ln w="12700">
            <a:solidFill>
              <a:srgbClr val="0A0A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0A0A0C">
              <a:alpha val="0"/>
            </a:srgbClr>
          </a:solidFill>
          <a:ln w="12700">
            <a:solidFill>
              <a:srgbClr val="C9A84C">
                <a:alpha val="5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82296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"Estamos construyendo la infraestructura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le devuelve el poder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dinero latino."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926080" y="3182112"/>
            <a:ext cx="329184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46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ÚNETE A LA MANADA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630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Lideremos juntos la soberanía financiera de Latinoamérica.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40050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Sebastián Botero Pabón  |  Arquitecto del Protocolo LUKASH  |  Marzo 2026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00400" y="4279392"/>
            <a:ext cx="2743200" cy="438912"/>
          </a:xfrm>
          <a:prstGeom prst="rect">
            <a:avLst/>
          </a:prstGeom>
          <a:solidFill>
            <a:srgbClr val="141414"/>
          </a:solidFill>
          <a:ln w="63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427939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8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VALIDATED — 0.0% RISK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LUKASH Protocol — Business Model</dc:title>
  <dc:subject>PptxGenJS Presentation</dc:subject>
  <dc:creator>Ing. Sebastián Botero Pabón</dc:creator>
  <cp:lastModifiedBy>Ing. Sebastián Botero Pabón</cp:lastModifiedBy>
  <cp:revision>1</cp:revision>
  <dcterms:created xsi:type="dcterms:W3CDTF">2026-03-04T16:53:32Z</dcterms:created>
  <dcterms:modified xsi:type="dcterms:W3CDTF">2026-03-04T16:53:32Z</dcterms:modified>
</cp:coreProperties>
</file>