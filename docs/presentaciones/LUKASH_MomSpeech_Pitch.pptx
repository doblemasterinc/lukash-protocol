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11827"/>
                </a:solidFill>
                <a:latin typeface="Arial"/>
              </a:defRPr>
            </a:pPr>
            <a:r>
              <a:rPr lang="es-CO" sz="900" b="0" i="0" u="none" strike="noStrike">
                <a:solidFill>
                  <a:srgbClr val="111827"/>
                </a:solidFill>
                <a:latin typeface="Arial"/>
              </a:rPr>
              <a:t>Costo de Adquisición de Cliente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(USD)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B2-4C03-9904-D1A36AAF6298}"/>
              </c:ext>
            </c:extLst>
          </c:dPt>
          <c:dPt>
            <c:idx val="1"/>
            <c:invertIfNegative val="0"/>
            <c:bubble3D val="0"/>
            <c:spPr>
              <a:solidFill>
                <a:srgbClr val="D478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B2-4C03-9904-D1A36AAF6298}"/>
              </c:ext>
            </c:extLst>
          </c:dPt>
          <c:dPt>
            <c:idx val="2"/>
            <c:invertIfNegative val="0"/>
            <c:bubble3D val="0"/>
            <c:spPr>
              <a:solidFill>
                <a:srgbClr val="2A8A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B2-4C03-9904-D1A36AAF629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Banco tradicional</c:v>
                </c:pt>
                <c:pt idx="1">
                  <c:v>NuBank</c:v>
                </c:pt>
                <c:pt idx="2">
                  <c:v>LUKASH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3B2-4C03-9904-D1A36AAF62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8A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114-4952-9AE0-8BA9F913657C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14-4952-9AE0-8BA9F913657C}"/>
              </c:ext>
            </c:extLst>
          </c:dPt>
          <c:dPt>
            <c:idx val="2"/>
            <c:bubble3D val="0"/>
            <c:spPr>
              <a:solidFill>
                <a:srgbClr val="D478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14-4952-9AE0-8BA9F913657C}"/>
              </c:ext>
            </c:extLst>
          </c:dPt>
          <c:dPt>
            <c:idx val="3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14-4952-9AE0-8BA9F913657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14-4952-9AE0-8BA9F913657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14-4952-9AE0-8BA9F913657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114-4952-9AE0-8BA9F913657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114-4952-9AE0-8BA9F913657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Referido viral entre Manadas</c:v>
                </c:pt>
                <c:pt idx="1">
                  <c:v>KOLs &amp; comunidades cripto LATAM</c:v>
                </c:pt>
                <c:pt idx="2">
                  <c:v>Alianzas cooperativas locales</c:v>
                </c:pt>
                <c:pt idx="3">
                  <c:v>Redes sociales orgánicas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14-4952-9AE0-8BA9F91365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09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"/>
            <a:ext cx="2743200" cy="1490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8288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billetera que trabaja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el dinero latino.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29077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financiera para los 650 millones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latinoamericanos que merecen más.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Sebastián Botero Pabón  ·  Marzo 2026  ·  Ronda Semilla: $800,000 USD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4663440" y="64008"/>
            <a:ext cx="4480560" cy="50794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64008"/>
            <a:ext cx="1097280" cy="5079492"/>
          </a:xfrm>
          <a:prstGeom prst="rect">
            <a:avLst/>
          </a:prstGeom>
          <a:solidFill>
            <a:srgbClr val="1A1A1A">
              <a:alpha val="80000"/>
            </a:srgbClr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636776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 PREGUNTA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tu mamá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 app para pagar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no para progresar?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latinoamericanos ya tiene smartphone y app bancaria.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ese dinero pierde valor, no genera historial, y no les abre puertas.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falta de tecnología. Es falta de la tecnología correcta.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64008"/>
            <a:ext cx="3154680" cy="5079492"/>
          </a:xfrm>
          <a:prstGeom prst="rect">
            <a:avLst/>
          </a:prstGeom>
          <a:solidFill>
            <a:srgbClr val="EAF6E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64008"/>
            <a:ext cx="3154680" cy="2834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29992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205472" y="29992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paga digital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72200" y="3456432"/>
            <a:ext cx="274320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72200" y="36210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1/10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205472" y="36210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crédito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4078224"/>
            <a:ext cx="274320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424281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205472" y="4242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informal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172200" y="4846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Banco Mundial · OIT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636776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PROBLEMA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apps de hoy sirven para gastar.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para construir riqueza.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417320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417320"/>
            <a:ext cx="50292" cy="157276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dinero pierde valor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9293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inflación en LATAM destruye los ahorros. Las cuentas bancarias no rinden ni para empatar.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73168" y="1417320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1417320"/>
            <a:ext cx="50292" cy="157276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56048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crédito, sin futuro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56048" y="19293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no accede a préstamos reales. Sin historial formal, son invisibles para el sistema.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136392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" y="3136392"/>
            <a:ext cx="50292" cy="15727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273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Neobancos que no entienden la cultura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364845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Diseñados para empleados formales. La economía informal — la mayoría — queda afuera.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73168" y="3136392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73168" y="3136392"/>
            <a:ext cx="50292" cy="15727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56048" y="3273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Ahorrar solos no funciona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56048" y="364845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LATAM siempre ahorramos en comunidad — las "natilleras". Las apps ignoran eso.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636776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SOLUCIÓN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LUKASH: tu dinero que crece,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comunidad que avanza.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344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herramientas que trabajan juntas: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" y="1691640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691640"/>
            <a:ext cx="2816352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1801368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277063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 KASH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31181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dinero respaldado por activos reales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57200" y="3456432"/>
            <a:ext cx="25968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peso guardado en LUKASH está respaldado por Bitcoin, dólares digitales y activos reales. No puede valer menos — solo más.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73552" y="1691640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73552" y="1691640"/>
            <a:ext cx="281635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801368"/>
            <a:ext cx="914400" cy="914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1071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8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383280" y="277063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LUKAI — Tu guía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383280" y="31181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que habla tu idioma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383280" y="3456432"/>
            <a:ext cx="25968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conversacional que te explica, te guía y te ayuda a tomar mejores decisiones. Como tener un asesor financiero en el bolsillo.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199632" y="1691640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99632" y="1691640"/>
            <a:ext cx="2816352" cy="4114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1801368"/>
            <a:ext cx="914400" cy="914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3679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8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309360" y="277063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Manadas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309360" y="31181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en comunidad, como siempre lo hemos hecho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6309360" y="3456432"/>
            <a:ext cx="25968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amigos o familia que ahorran juntos, se dan crédito entre sí y construyen reputación financiera. La natillera, pero digital.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2130552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MODELO DE NEGOCIO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gana dinero LUKASH?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9875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simple: cobramos una comisión pequeña por cada transacción. Mientras más usas, menos pagas.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42646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ETAPA DE USUARIO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719072"/>
            <a:ext cx="50292" cy="74980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Nuevo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6 meses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0" y="179222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457200" y="258775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587752"/>
            <a:ext cx="5029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679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Activo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historial LUKASH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0" y="266090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2.5%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457200" y="345643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56432"/>
            <a:ext cx="50292" cy="74980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Soberano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reputación plena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0" y="35295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029200" y="14264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dónde va cada comisión?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29200" y="1719072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0" y="2286000"/>
            <a:ext cx="1232154" cy="109728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38928" y="179222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888736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Crece la Reserva KASH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888736" y="2066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dinero vale más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29200" y="2505456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0" y="3072384"/>
            <a:ext cx="1232154" cy="109728"/>
          </a:xfrm>
          <a:prstGeom prst="rect">
            <a:avLst/>
          </a:prstGeom>
          <a:solidFill>
            <a:srgbClr val="2A8A56">
              <a:alpha val="60000"/>
            </a:srgbClr>
          </a:solidFill>
          <a:ln w="12700">
            <a:solidFill>
              <a:srgbClr val="2A8A56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38928" y="257860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888736" y="2596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Retorno al inversor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888736" y="2852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compartido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0" y="3291840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0" y="3858768"/>
            <a:ext cx="528066" cy="109728"/>
          </a:xfrm>
          <a:prstGeom prst="rect">
            <a:avLst/>
          </a:prstGeom>
          <a:solidFill>
            <a:srgbClr val="D4780A">
              <a:alpha val="60000"/>
            </a:srgbClr>
          </a:solidFill>
          <a:ln w="12700">
            <a:solidFill>
              <a:srgbClr val="D4780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38928" y="33649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888736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Quema de tokens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88736" y="3639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la moneda más escasa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029200" y="4078224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29200" y="4645152"/>
            <a:ext cx="528066" cy="109728"/>
          </a:xfrm>
          <a:prstGeom prst="rect">
            <a:avLst/>
          </a:prstGeom>
          <a:solidFill>
            <a:srgbClr val="6B7280">
              <a:alpha val="60000"/>
            </a:srgbClr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38928" y="415137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5888736" y="4169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Operaciones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888736" y="44256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tecnología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del mes 13: el inversor recibe flujo directo y perpetuo de la reserva.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2542032" cy="219456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TRACCIÓN Y OPERACIONES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hemos construido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hoy?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1408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LUKASH v3.1 — arquitectura completa documentada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7922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Monte Carlo: 5,000 iteraciones, 0.0% riesgo de ruina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2128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22494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v2.0 validado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6334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LUKAI v3.1 — diseño de orquestador de IA conversacional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305409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" y="3090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de marca y guía visual completa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347472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en Solana — en desarrollo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389534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" y="3931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wallet interactiva — en diseño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31596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" y="43525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Manadas beta — al cierre de ronda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164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12 MESES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88736" y="1380744"/>
            <a:ext cx="18288" cy="25603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06440" y="521208"/>
            <a:ext cx="182880" cy="182880"/>
          </a:xfrm>
          <a:prstGeom prst="ellipse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0760" y="502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78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1–3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080760" y="758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en Solana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 + LUKAI activos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88736" y="2478024"/>
            <a:ext cx="18288" cy="25603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06440" y="1618488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076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4–6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080760" y="1856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100 Manadas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Score en cadena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888736" y="3575304"/>
            <a:ext cx="18288" cy="25603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06440" y="2715768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80760" y="2697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7–12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080760" y="2953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K_min $25M en Vault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 — crédito comunitario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806440" y="3813048"/>
            <a:ext cx="182880" cy="182880"/>
          </a:xfrm>
          <a:prstGeom prst="ellipse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8076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8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13+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080760" y="4050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perpetua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inversor activada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883664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UNIT ECONOMICS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números que importan.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978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LUKASH es más eficiente que cualquier neobanco o banco tradicional.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325880"/>
            <a:ext cx="208483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4632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adquirir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(CAC)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$7 de NuBank · $250 de banco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1325880"/>
            <a:ext cx="2084832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97480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$0.00025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697480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697480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$20–65 por SWIFT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73168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73168" y="1325880"/>
            <a:ext cx="2084832" cy="4114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0328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63x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910328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proyectado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token en 1 año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10328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Monte Carlo P50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986016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86016" y="1325880"/>
            <a:ext cx="208483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23176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 13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123176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distribución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 al inversor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123176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 de vencimiento</a:t>
            </a:r>
            <a:endParaRPr lang="en-US" sz="8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47472" y="2724912"/>
          <a:ext cx="4206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4937760" y="2724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PROYECTADO POR USUARIO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937760" y="3017520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74920" y="3054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promedio por transacción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04088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~$0.80 USD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8001000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Etapa 1 (4%)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4937760" y="3364992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74920" y="3401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al mes por usuario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04088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001000" y="34198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4937760" y="3712464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074920" y="3749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 por usuario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040880" y="3739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~$6.40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8001000" y="3767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típico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4937760" y="4059936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074920" y="40965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proyectado (12 meses)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04088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~$76.80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800100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considerar referidos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4937760" y="4407408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074920" y="44439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LUKASH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704088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$3.00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001000" y="4462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vía Manadas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4937760" y="4754880"/>
            <a:ext cx="3840480" cy="310896"/>
          </a:xfrm>
          <a:prstGeom prst="rect">
            <a:avLst/>
          </a:prstGeom>
          <a:solidFill>
            <a:srgbClr val="EAF6E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074920" y="4791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LTV/CAC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7040880" y="4782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25.6x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8001000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industria: &gt;3x = bueno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719072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GO TO MARKET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303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llegamos al millón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usuarios?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5303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371600"/>
            <a:ext cx="50292" cy="1078992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463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478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Meses 1–6: Comunidad primaria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1901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Lanzamos con 10 Manadas fundadoras en Colombia. Usuarios early adopters con incentivos en $LUKA. LUKAI hace el onboarding 100% conversacional.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0" y="1463040"/>
            <a:ext cx="1051560" cy="292608"/>
          </a:xfrm>
          <a:prstGeom prst="rect">
            <a:avLst/>
          </a:prstGeom>
          <a:solidFill>
            <a:srgbClr val="D4780A">
              <a:alpha val="15000"/>
            </a:srgbClr>
          </a:solidFill>
          <a:ln w="6350">
            <a:solidFill>
              <a:srgbClr val="D478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500 usuarios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11480" y="2560320"/>
            <a:ext cx="5303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" y="2560320"/>
            <a:ext cx="50292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2852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Meses 7–18: Crecimiento viral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" y="3090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Manada trae en promedio 8 nuevos usuarios. CAC cae a $3 gracias al referido orgánico. KOLs Jaguar Lock amplifican en redes sociales.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2651760"/>
            <a:ext cx="1051560" cy="292608"/>
          </a:xfrm>
          <a:prstGeom prst="rect">
            <a:avLst/>
          </a:prstGeom>
          <a:solidFill>
            <a:srgbClr val="C9A84C">
              <a:alpha val="1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651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10,000 usuarios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11480" y="3749040"/>
            <a:ext cx="5303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3749040"/>
            <a:ext cx="50292" cy="1078992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A8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66928" y="4041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Meses 19–36: Expansión regional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4279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Aliados RWA e institucionales en México, Perú y Argentina. Sandbox regulatorio SFC Colombia. Integraciones B2B con cooperativas y fondos.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0" y="3840480"/>
            <a:ext cx="1051560" cy="292608"/>
          </a:xfrm>
          <a:prstGeom prst="rect">
            <a:avLst/>
          </a:prstGeom>
          <a:solidFill>
            <a:srgbClr val="2A8A56">
              <a:alpha val="15000"/>
            </a:srgbClr>
          </a:solidFill>
          <a:ln w="6350">
            <a:solidFill>
              <a:srgbClr val="2A8A5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38404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100,000 usuarios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035040" y="164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 ADQUISICIÓN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5760720" y="457200"/>
          <a:ext cx="3108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Shape 26"/>
          <p:cNvSpPr/>
          <p:nvPr/>
        </p:nvSpPr>
        <p:spPr>
          <a:xfrm>
            <a:off x="5760720" y="3090672"/>
            <a:ext cx="3108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97880" y="31821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897880" y="3493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 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446520" y="3493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650M adultos LATAM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5897880" y="3767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  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446520" y="3767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 economía informal digital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5897880" y="40416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  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446520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usuarios año 1–2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Banco Mundial · GSMA · OIT · CEPAL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472184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EL EQUIPO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Quién hay detrás de LUKASH.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78992"/>
            <a:ext cx="5029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078992"/>
            <a:ext cx="5029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207008"/>
            <a:ext cx="1188720" cy="11887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49808" y="1298448"/>
            <a:ext cx="969264" cy="9692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Ing. Sebastián Botero Pabón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965960" y="15270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&amp; Arquitecto del Protocolo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40080" y="256946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" y="251460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Electrónica y Telecomunicaciones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91693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41248" y="286207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Posgrados en Finanzas y Análisis de Datos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26440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1248" y="320954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 analizando mercados financieros y blockchain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6118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41248" y="35570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de la arquitectura LUKASH de punta a punta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69280" y="10789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DEL EQUIPO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669280" y="138988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06440" y="14721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Solana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818120" y="1481328"/>
            <a:ext cx="914400" cy="256032"/>
          </a:xfrm>
          <a:prstGeom prst="rect">
            <a:avLst/>
          </a:prstGeom>
          <a:solidFill>
            <a:srgbClr val="2A8A56">
              <a:alpha val="18000"/>
            </a:srgbClr>
          </a:solidFill>
          <a:ln w="3810">
            <a:solidFill>
              <a:srgbClr val="2A8A5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81812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5669280" y="1901952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06440" y="19842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Conversacional (LUKAI)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818120" y="1993392"/>
            <a:ext cx="914400" cy="256032"/>
          </a:xfrm>
          <a:prstGeom prst="rect">
            <a:avLst/>
          </a:prstGeom>
          <a:solidFill>
            <a:srgbClr val="2A8A56">
              <a:alpha val="18000"/>
            </a:srgbClr>
          </a:solidFill>
          <a:ln w="3810">
            <a:solidFill>
              <a:srgbClr val="2A8A5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81812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5669280" y="2414016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06440" y="24963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protocolo financiero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818120" y="2505456"/>
            <a:ext cx="914400" cy="256032"/>
          </a:xfrm>
          <a:prstGeom prst="rect">
            <a:avLst/>
          </a:prstGeom>
          <a:solidFill>
            <a:srgbClr val="2A8A56">
              <a:alpha val="18000"/>
            </a:srgbClr>
          </a:solidFill>
          <a:ln w="3810">
            <a:solidFill>
              <a:srgbClr val="2A8A5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818120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5669280" y="2926080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806440" y="3008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front-end wallet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818120" y="3017520"/>
            <a:ext cx="914400" cy="256032"/>
          </a:xfrm>
          <a:prstGeom prst="rect">
            <a:avLst/>
          </a:prstGeom>
          <a:solidFill>
            <a:srgbClr val="D4780A">
              <a:alpha val="18000"/>
            </a:srgbClr>
          </a:solidFill>
          <a:ln w="3810">
            <a:solidFill>
              <a:srgbClr val="D478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81812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búsqueda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5669280" y="3438144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806440" y="35204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 LATAM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7818120" y="3529584"/>
            <a:ext cx="914400" cy="256032"/>
          </a:xfrm>
          <a:prstGeom prst="rect">
            <a:avLst/>
          </a:prstGeom>
          <a:solidFill>
            <a:srgbClr val="C9A84C">
              <a:alpha val="18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818120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externo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5669280" y="395020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806440" y="40325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y GTM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7818120" y="4041648"/>
            <a:ext cx="914400" cy="256032"/>
          </a:xfrm>
          <a:prstGeom prst="rect">
            <a:avLst/>
          </a:prstGeom>
          <a:solidFill>
            <a:srgbClr val="D4780A">
              <a:alpha val="18000"/>
            </a:srgbClr>
          </a:solidFill>
          <a:ln w="3810">
            <a:solidFill>
              <a:srgbClr val="D478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818120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búsqueda</a:t>
            </a:r>
            <a:endParaRPr lang="en-US" sz="700" dirty="0"/>
          </a:p>
        </p:txBody>
      </p:sp>
      <p:sp>
        <p:nvSpPr>
          <p:cNvPr id="46" name="Shape 42"/>
          <p:cNvSpPr/>
          <p:nvPr/>
        </p:nvSpPr>
        <p:spPr>
          <a:xfrm>
            <a:off x="5669280" y="4480560"/>
            <a:ext cx="3200400" cy="411480"/>
          </a:xfrm>
          <a:prstGeom prst="rect">
            <a:avLst/>
          </a:prstGeom>
          <a:solidFill>
            <a:srgbClr val="EAF6EF"/>
          </a:solidFill>
          <a:ln w="6350">
            <a:solidFill>
              <a:srgbClr val="2A8A5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76072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co-fundador técnico para Solana y aliados estratégicos LATAM.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883664" cy="219456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LO QUE PEDIMOS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38912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$800,000 USD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cambiar la historia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dinero latino.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11480" y="1920240"/>
            <a:ext cx="2176272" cy="1298448"/>
          </a:xfrm>
          <a:prstGeom prst="rect">
            <a:avLst/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920240"/>
            <a:ext cx="2176272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" y="20116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21208" y="24688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$400K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272491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técnico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1208" y="29443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+ wallet + LUKAI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743200" y="1920240"/>
            <a:ext cx="2176272" cy="1298448"/>
          </a:xfrm>
          <a:prstGeom prst="rect">
            <a:avLst/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1920240"/>
            <a:ext cx="217627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2928" y="20116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852928" y="24688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$200K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852928" y="272491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inicial del Vault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852928" y="29443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KASH fundacional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11480" y="3337560"/>
            <a:ext cx="2176272" cy="1298448"/>
          </a:xfrm>
          <a:prstGeom prst="rect">
            <a:avLst/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337560"/>
            <a:ext cx="2176272" cy="4114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" y="3429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521208" y="3886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$120K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1208" y="414223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KOLs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21208" y="436168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y primeras Manadas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743200" y="3337560"/>
            <a:ext cx="2176272" cy="1298448"/>
          </a:xfrm>
          <a:prstGeom prst="rect">
            <a:avLst/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0" y="3337560"/>
            <a:ext cx="2176272" cy="411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52928" y="3429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2852928" y="3886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$80K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852928" y="414223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852928" y="436168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SFC Colombia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120640" y="475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RECIBE EL INVERSIONISTA?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120640" y="804672"/>
            <a:ext cx="3657600" cy="6858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30368" y="87782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577840" y="87782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de la reserva KASH Sociedad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577840" y="11521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capital crece con el protocolo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120640" y="1609344"/>
            <a:ext cx="3657600" cy="6858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30368" y="16824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577840" y="168249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perpetuo desde el mes 13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577840" y="19568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directa sin fecha fin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120640" y="2414016"/>
            <a:ext cx="3657600" cy="6858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30368" y="2487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577840" y="2487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 dilución futura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577840" y="27614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escalamiento lo financia el Vault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120640" y="3218688"/>
            <a:ext cx="3657600" cy="6858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30368" y="32918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577840" y="32918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Jaguar Lock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577840" y="356616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desembolsado solo por hitos cumplidos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120640" y="4023360"/>
            <a:ext cx="3657600" cy="6858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30368" y="409651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577840" y="40965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Proyección 63x en Año 1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577840" y="437083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P50 · 5,000 simulaciones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2286000" y="182880"/>
            <a:ext cx="4572000" cy="2487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42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"Contamos con ustedes?"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0" y="3218688"/>
            <a:ext cx="2743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construyendo la herramienta que le devolverá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poder al dinero de los latinos.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88720" y="3950208"/>
            <a:ext cx="2304288" cy="777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3950208"/>
            <a:ext cx="230428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98448" y="398678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98448" y="44256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semilla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22192" y="3950208"/>
            <a:ext cx="2304288" cy="777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22192" y="3950208"/>
            <a:ext cx="2304288" cy="36576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398678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31920" y="44256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ruina validado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55664" y="3950208"/>
            <a:ext cx="2304288" cy="77724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55664" y="3950208"/>
            <a:ext cx="2304288" cy="36576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65392" y="398678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 13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65392" y="44256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al inversor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Sebastián Botero Pabón  ·  Arquitecto del Protocolo LUKASH  ·  Marzo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1153</Words>
  <Application>Microsoft Office PowerPoint</Application>
  <PresentationFormat>Presentación en pantalla (16:9)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LUKASH — Pitch Deck</dc:title>
  <dc:subject>PptxGenJS Presentation</dc:subject>
  <dc:creator>PptxGenJS</dc:creator>
  <cp:lastModifiedBy>Sebastian Botero</cp:lastModifiedBy>
  <cp:revision>2</cp:revision>
  <dcterms:created xsi:type="dcterms:W3CDTF">2026-03-04T17:02:11Z</dcterms:created>
  <dcterms:modified xsi:type="dcterms:W3CDTF">2026-03-04T17:07:01Z</dcterms:modified>
</cp:coreProperties>
</file>