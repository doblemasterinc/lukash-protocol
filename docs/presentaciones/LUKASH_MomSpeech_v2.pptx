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6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111827"/>
                </a:solidFill>
                <a:latin typeface="Arial"/>
              </a:defRPr>
            </a:pPr>
            <a:r>
              <a:rPr lang="es-CO" sz="900" b="0" i="0" u="none" strike="noStrike">
                <a:solidFill>
                  <a:srgbClr val="111827"/>
                </a:solidFill>
                <a:latin typeface="Arial"/>
              </a:rPr>
              <a:t>Costo de Adquisición de Cliente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 (USD)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CCC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773-403A-BCD7-0B9886513FC6}"/>
              </c:ext>
            </c:extLst>
          </c:dPt>
          <c:dPt>
            <c:idx val="1"/>
            <c:invertIfNegative val="0"/>
            <c:bubble3D val="0"/>
            <c:spPr>
              <a:solidFill>
                <a:srgbClr val="D478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773-403A-BCD7-0B9886513FC6}"/>
              </c:ext>
            </c:extLst>
          </c:dPt>
          <c:dPt>
            <c:idx val="2"/>
            <c:invertIfNegative val="0"/>
            <c:bubble3D val="0"/>
            <c:spPr>
              <a:solidFill>
                <a:srgbClr val="2A8A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773-403A-BCD7-0B9886513FC6}"/>
              </c:ext>
            </c:extLst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773-403A-BCD7-0B9886513FC6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11827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Banco tradicional</c:v>
                </c:pt>
                <c:pt idx="1">
                  <c:v>NuBank</c:v>
                </c:pt>
                <c:pt idx="2">
                  <c:v>LUKASH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250</c:v>
                </c:pt>
                <c:pt idx="1">
                  <c:v>7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773-403A-BCD7-0B9886513F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8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Canales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8A5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78-4C56-A59E-90058D612F7C}"/>
              </c:ext>
            </c:extLst>
          </c:dPt>
          <c:dPt>
            <c:idx val="1"/>
            <c:bubble3D val="0"/>
            <c:spPr>
              <a:solidFill>
                <a:srgbClr val="C9A8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78-4C56-A59E-90058D612F7C}"/>
              </c:ext>
            </c:extLst>
          </c:dPt>
          <c:dPt>
            <c:idx val="2"/>
            <c:bubble3D val="0"/>
            <c:spPr>
              <a:solidFill>
                <a:srgbClr val="D478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478-4C56-A59E-90058D612F7C}"/>
              </c:ext>
            </c:extLst>
          </c:dPt>
          <c:dPt>
            <c:idx val="3"/>
            <c:bubble3D val="0"/>
            <c:spPr>
              <a:solidFill>
                <a:srgbClr val="AAAA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478-4C56-A59E-90058D612F7C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78-4C56-A59E-90058D612F7C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78-4C56-A59E-90058D612F7C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478-4C56-A59E-90058D612F7C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478-4C56-A59E-90058D612F7C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Referido viral entre Manadas</c:v>
                </c:pt>
                <c:pt idx="1">
                  <c:v>KOLs &amp; comunidades cripto LATAM</c:v>
                </c:pt>
                <c:pt idx="2">
                  <c:v>Alianzas cooperativas locales</c:v>
                </c:pt>
                <c:pt idx="3">
                  <c:v>Redes sociales orgánicas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20</c:v>
                </c:pt>
                <c:pt idx="2">
                  <c:v>12</c:v>
                </c:pt>
                <c:pt idx="3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478-4C56-A59E-90058D612F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6B728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AFA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3356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8600"/>
            <a:ext cx="2743200" cy="1490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82880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billetera que trabaja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el dinero latino.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02920" y="29077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Soberanía financiera para los 650 millones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latinoamericanos que merecen más.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02920" y="44805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Sebastián Botero Pabón  ·  Marzo 2026  ·  Ronda Semilla: $800,000 USD</a:t>
            </a: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4663440" y="64008"/>
            <a:ext cx="4480560" cy="507949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663440" y="64008"/>
            <a:ext cx="1097280" cy="5079492"/>
          </a:xfrm>
          <a:prstGeom prst="rect">
            <a:avLst/>
          </a:prstGeom>
          <a:solidFill>
            <a:srgbClr val="1A1A1A">
              <a:alpha val="80000"/>
            </a:srgbClr>
          </a:solidFill>
          <a:ln w="12700">
            <a:solidFill>
              <a:srgbClr val="1A1A1A">
                <a:alpha val="0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5010912"/>
            <a:ext cx="9144000" cy="1325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636776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LA PREGUNTA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3035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¿Se han fijado que hoy casi todos los latinoamericanos tenemos una aplicación en el celular para mover nuestro dinero…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457200" y="1938528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i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…pero muy pocos sentimos que ese dinero realmente nos pertenece o nos ayuda a progresar?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999232"/>
            <a:ext cx="5120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es la pregunta que dio origen a LUKASH.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989320" y="64008"/>
            <a:ext cx="3154680" cy="5079492"/>
          </a:xfrm>
          <a:prstGeom prst="rect">
            <a:avLst/>
          </a:prstGeom>
          <a:solidFill>
            <a:srgbClr val="EAF6E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64008"/>
            <a:ext cx="3154680" cy="2834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172200" y="299923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205472" y="299923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paga digital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72200" y="3456432"/>
            <a:ext cx="274320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72200" y="3621024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1/10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205472" y="36210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 a crédito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72200" y="4078224"/>
            <a:ext cx="2743200" cy="7315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72200" y="4242816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205472" y="42428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informal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172200" y="48463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Banco Mundial · OIT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636776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EL PROBLEMA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apps de hoy sirven para gastar.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para construir riqueza.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417320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417320"/>
            <a:ext cx="50292" cy="157276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dinero pierde valor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19293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inflación en LATAM destruye los ahorros. Las cuentas bancarias no rinden ni para empatar.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73168" y="1417320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73168" y="1417320"/>
            <a:ext cx="50292" cy="157276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1554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 crédito, sin futuro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56048" y="192938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90% no accede a préstamos reales. Sin historial formal, son invisibles para el sistema.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11480" y="3136392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11480" y="3136392"/>
            <a:ext cx="50292" cy="15727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94360" y="3273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Neobancos que no entienden la cultura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94360" y="364845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Diseñados para empleados formales. La economía informal — la mayoría — queda afuera.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73168" y="3136392"/>
            <a:ext cx="4160520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773168" y="3136392"/>
            <a:ext cx="50292" cy="157276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56048" y="3273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Ahorrar solos no funciona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956048" y="364845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LATAM siempre ahorramos en comunidad — las "natilleras". Las apps ignoran eso.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636776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LA SOLUCIÓN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LUKASH: tu dinero que crece,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comunidad que avanza.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134416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herramientas que trabajan juntas: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1691640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691640"/>
            <a:ext cx="2816352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1801368"/>
            <a:ext cx="91440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" y="277063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 KASH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" y="31181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dinero respaldado por activos reales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457200" y="3456432"/>
            <a:ext cx="2596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peso guardado en LUKASH está respaldado por Bitcoin, dólares digitales y activos reales. No puede valer menos — solo más.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73552" y="1691640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73552" y="1691640"/>
            <a:ext cx="281635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4528" y="1801368"/>
            <a:ext cx="914400" cy="914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1071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8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3383280" y="277063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LUKAI — Tu guía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3383280" y="31181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 que habla tu idioma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3383280" y="3456432"/>
            <a:ext cx="2596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conversacional que te explica, te guía y te ayuda a tomar mejores decisiones. Como tener un asesor financiero en el bolsillo.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6199632" y="1691640"/>
            <a:ext cx="2816352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199632" y="1691640"/>
            <a:ext cx="2816352" cy="4114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1801368"/>
            <a:ext cx="914400" cy="9144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36792" y="180136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8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6309360" y="2770632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Manadas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309360" y="311810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en comunidad, como siempre lo hemos hecho</a:t>
            </a: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6309360" y="3456432"/>
            <a:ext cx="259689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de amigos o familia que ahorran juntos, se dan crédito entre sí y construyen reputación financiera. La natillera, pero digital.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2130552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2130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MODELO DE NEGOCIO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gana dinero LUKASH?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987552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simple: cobramos una comisión pequeña por cada transacción. Mientras más usas, menos pagas.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42646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COMISIÓN POR ETAPA DE USUARIO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57200" y="171907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1719072"/>
            <a:ext cx="50292" cy="74980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Nuevo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103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Primeros 6 meses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200400" y="179222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4.0%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457200" y="258775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587752"/>
            <a:ext cx="50292" cy="7498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26791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Activo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29718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historial LUKASH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0" y="266090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2.5%</a:t>
            </a:r>
            <a:endParaRPr lang="en-US" sz="2800" dirty="0"/>
          </a:p>
        </p:txBody>
      </p:sp>
      <p:sp>
        <p:nvSpPr>
          <p:cNvPr id="19" name="Shape 16"/>
          <p:cNvSpPr/>
          <p:nvPr/>
        </p:nvSpPr>
        <p:spPr>
          <a:xfrm>
            <a:off x="457200" y="3456432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3456432"/>
            <a:ext cx="50292" cy="74980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5478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Usuario Soberano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40080" y="3840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reputación plena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200400" y="352958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0.5%</a:t>
            </a:r>
            <a:endParaRPr lang="en-US" sz="2800" dirty="0"/>
          </a:p>
        </p:txBody>
      </p:sp>
      <p:sp>
        <p:nvSpPr>
          <p:cNvPr id="24" name="Text 21"/>
          <p:cNvSpPr/>
          <p:nvPr/>
        </p:nvSpPr>
        <p:spPr>
          <a:xfrm>
            <a:off x="5029200" y="14264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dónde va cada comisión?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5029200" y="1719072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29200" y="2286000"/>
            <a:ext cx="1232154" cy="109728"/>
          </a:xfrm>
          <a:prstGeom prst="rect">
            <a:avLst/>
          </a:prstGeom>
          <a:solidFill>
            <a:srgbClr val="C9A84C">
              <a:alpha val="60000"/>
            </a:srgbClr>
          </a:solidFill>
          <a:ln w="12700">
            <a:solidFill>
              <a:srgbClr val="C9A84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38928" y="179222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5888736" y="18105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Crece la </a:t>
            </a:r>
            <a:r>
              <a:rPr lang="en-US" sz="1000" b="1" dirty="0" err="1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Reserva</a:t>
            </a: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KASH (70% core – 30% Sociedad)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888736" y="20665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dinero vale más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029200" y="2505456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029200" y="3072384"/>
            <a:ext cx="1232154" cy="109728"/>
          </a:xfrm>
          <a:prstGeom prst="rect">
            <a:avLst/>
          </a:prstGeom>
          <a:solidFill>
            <a:srgbClr val="2A8A56">
              <a:alpha val="60000"/>
            </a:srgbClr>
          </a:solidFill>
          <a:ln w="12700">
            <a:solidFill>
              <a:srgbClr val="2A8A56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138928" y="2578608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5888736" y="259689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Pool de </a:t>
            </a:r>
            <a:r>
              <a:rPr lang="en-US" sz="1000" b="1" dirty="0" err="1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Liquidez</a:t>
            </a: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(LP) de $LUKA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888736" y="285292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$LUKA </a:t>
            </a:r>
            <a:r>
              <a:rPr lang="en-US" sz="8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 red de SOLANA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029200" y="3291840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029200" y="3858768"/>
            <a:ext cx="528066" cy="109728"/>
          </a:xfrm>
          <a:prstGeom prst="rect">
            <a:avLst/>
          </a:prstGeom>
          <a:solidFill>
            <a:srgbClr val="D4780A">
              <a:alpha val="60000"/>
            </a:srgbClr>
          </a:solidFill>
          <a:ln w="12700">
            <a:solidFill>
              <a:srgbClr val="D4780A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38928" y="336499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888736" y="33832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 err="1">
                <a:solidFill>
                  <a:srgbClr val="111827"/>
                </a:solidFill>
                <a:latin typeface="Georgia" pitchFamily="34" charset="0"/>
              </a:rPr>
              <a:t>Recompensas</a:t>
            </a:r>
            <a:r>
              <a:rPr lang="en-US" sz="1000" b="1" dirty="0">
                <a:solidFill>
                  <a:srgbClr val="111827"/>
                </a:solidFill>
                <a:latin typeface="Georgia" pitchFamily="34" charset="0"/>
              </a:rPr>
              <a:t> </a:t>
            </a:r>
            <a:r>
              <a:rPr lang="en-US" sz="1000" b="1" dirty="0" err="1">
                <a:solidFill>
                  <a:srgbClr val="111827"/>
                </a:solidFill>
                <a:latin typeface="Georgia" pitchFamily="34" charset="0"/>
              </a:rPr>
              <a:t>por</a:t>
            </a:r>
            <a:r>
              <a:rPr lang="en-US" sz="1000" b="1" dirty="0">
                <a:solidFill>
                  <a:srgbClr val="111827"/>
                </a:solidFill>
                <a:latin typeface="Georgia" pitchFamily="34" charset="0"/>
              </a:rPr>
              <a:t> Staking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88736" y="363931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la moneda más escasa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5029200" y="4078224"/>
            <a:ext cx="36576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29200" y="4645152"/>
            <a:ext cx="528066" cy="109728"/>
          </a:xfrm>
          <a:prstGeom prst="rect">
            <a:avLst/>
          </a:prstGeom>
          <a:solidFill>
            <a:srgbClr val="6B7280">
              <a:alpha val="60000"/>
            </a:srgbClr>
          </a:solidFill>
          <a:ln w="12700">
            <a:solidFill>
              <a:srgbClr val="6B7280">
                <a:alpha val="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138928" y="4151376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5888736" y="41696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Operaciones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5888736" y="442569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y tecnología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b="1" i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del mes 13: el inversor recibe flujo directo y perpetuo de la reserva.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2542032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TRACCIÓN Y OPERACIONES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0292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hemos construido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 hoy?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" y="140817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LUKASH v3.1 — arquitectura completa documentada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79222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4672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 Monte Carlo: 5,000 iteraciones, 0.0% riesgo de ruina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21284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224942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 v2.0 validado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633472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" y="26700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LUKAI v3.1 — diseño de orquestador de IA conversacional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3054096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04672" y="30906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de marca y guía visual completa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3474720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04672" y="3511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en Solana — en desarrollo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3895344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4672" y="3931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wallet interactiva — en diseño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4315968"/>
            <a:ext cx="292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" y="43525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Manadas beta — al cierre de ronda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77840" y="16459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12 MESES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88736" y="1380744"/>
            <a:ext cx="18288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806440" y="521208"/>
            <a:ext cx="182880" cy="182880"/>
          </a:xfrm>
          <a:prstGeom prst="ellipse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80760" y="50292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78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1–3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080760" y="75895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en Solana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A + LUKAI activos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5888736" y="2478024"/>
            <a:ext cx="18288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06440" y="1618488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80760" y="160020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4–6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080760" y="185623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100 Manadas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Jaguar Score en cadena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88736" y="3575304"/>
            <a:ext cx="18288" cy="25603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06440" y="2715768"/>
            <a:ext cx="182880" cy="18288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080760" y="269748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7–12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6080760" y="295351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K_min $25M en Vault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 — crédito comunitario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5806440" y="3813048"/>
            <a:ext cx="182880" cy="182880"/>
          </a:xfrm>
          <a:prstGeom prst="ellipse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080760" y="3794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A8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 13+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080760" y="4050792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perpetua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inversor activada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883664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UNIT ECONOMICS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números que importan.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457200" y="9784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LUKASH es más eficiente que cualquier neobanco o banco tradicional.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72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7472" y="1325880"/>
            <a:ext cx="208483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84632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adquirir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usuario (CAC)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$7 de NuBank · $250 de banco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560320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0320" y="1325880"/>
            <a:ext cx="2084832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97480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$0.00025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697480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transacción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2697480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$20–65 por SWIFT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773168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73168" y="1325880"/>
            <a:ext cx="2084832" cy="4114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0328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63x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910328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proyectado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token en 1 año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910328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Monte Carlo P50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986016" y="1325880"/>
            <a:ext cx="208483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86016" y="1325880"/>
            <a:ext cx="208483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23176" y="141732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 13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123176" y="2068373"/>
            <a:ext cx="1810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distribución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perpetua al inversor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123176" y="2324405"/>
            <a:ext cx="1810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fecha de vencimiento</a:t>
            </a:r>
            <a:endParaRPr lang="en-US" sz="800" dirty="0"/>
          </a:p>
        </p:txBody>
      </p:sp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4006453811"/>
              </p:ext>
            </p:extLst>
          </p:nvPr>
        </p:nvGraphicFramePr>
        <p:xfrm>
          <a:off x="347472" y="2724912"/>
          <a:ext cx="420624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9" name="Text 25"/>
          <p:cNvSpPr/>
          <p:nvPr/>
        </p:nvSpPr>
        <p:spPr>
          <a:xfrm>
            <a:off x="4937760" y="27249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PROYECTADO POR USUARIO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937760" y="3017520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74920" y="305409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promedio por transacción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7040880" y="30449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~$0.80 USD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8001000" y="307238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Etapa 1 (4%)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4937760" y="3364992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74920" y="3401568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 al mes por usuario</a:t>
            </a:r>
            <a:endParaRPr lang="en-US" sz="850" dirty="0"/>
          </a:p>
        </p:txBody>
      </p:sp>
      <p:sp>
        <p:nvSpPr>
          <p:cNvPr id="36" name="Text 32"/>
          <p:cNvSpPr/>
          <p:nvPr/>
        </p:nvSpPr>
        <p:spPr>
          <a:xfrm>
            <a:off x="7040880" y="33924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001000" y="341985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4937760" y="3712464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074920" y="37490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por usuario</a:t>
            </a:r>
            <a:endParaRPr lang="en-US" sz="850" dirty="0"/>
          </a:p>
        </p:txBody>
      </p:sp>
      <p:sp>
        <p:nvSpPr>
          <p:cNvPr id="40" name="Text 36"/>
          <p:cNvSpPr/>
          <p:nvPr/>
        </p:nvSpPr>
        <p:spPr>
          <a:xfrm>
            <a:off x="7040880" y="37398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~$6.40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8001000" y="376732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típico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4937760" y="4059936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074920" y="409651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proyectado (12 meses)</a:t>
            </a:r>
            <a:endParaRPr lang="en-US" sz="850" dirty="0"/>
          </a:p>
        </p:txBody>
      </p:sp>
      <p:sp>
        <p:nvSpPr>
          <p:cNvPr id="44" name="Text 40"/>
          <p:cNvSpPr/>
          <p:nvPr/>
        </p:nvSpPr>
        <p:spPr>
          <a:xfrm>
            <a:off x="7040880" y="4087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~$76.80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800100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considerar referidos</a:t>
            </a:r>
            <a:endParaRPr lang="en-US" sz="750" dirty="0"/>
          </a:p>
        </p:txBody>
      </p:sp>
      <p:sp>
        <p:nvSpPr>
          <p:cNvPr id="46" name="Shape 42"/>
          <p:cNvSpPr/>
          <p:nvPr/>
        </p:nvSpPr>
        <p:spPr>
          <a:xfrm>
            <a:off x="4937760" y="4407408"/>
            <a:ext cx="38404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074920" y="4443984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LUKASH</a:t>
            </a:r>
            <a:endParaRPr lang="en-US" sz="850" dirty="0"/>
          </a:p>
        </p:txBody>
      </p:sp>
      <p:sp>
        <p:nvSpPr>
          <p:cNvPr id="48" name="Text 44"/>
          <p:cNvSpPr/>
          <p:nvPr/>
        </p:nvSpPr>
        <p:spPr>
          <a:xfrm>
            <a:off x="7040880" y="4434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$3.00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001000" y="446227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Adquisición vía Manadas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4937760" y="4754880"/>
            <a:ext cx="3840480" cy="310896"/>
          </a:xfrm>
          <a:prstGeom prst="rect">
            <a:avLst/>
          </a:prstGeom>
          <a:solidFill>
            <a:srgbClr val="EAF6E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074920" y="4791456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LTV/CAC</a:t>
            </a:r>
            <a:endParaRPr lang="en-US" sz="850" dirty="0"/>
          </a:p>
        </p:txBody>
      </p:sp>
      <p:sp>
        <p:nvSpPr>
          <p:cNvPr id="52" name="Text 48"/>
          <p:cNvSpPr/>
          <p:nvPr/>
        </p:nvSpPr>
        <p:spPr>
          <a:xfrm>
            <a:off x="7040880" y="4782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25.6x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8001000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industria: &gt;3x = bueno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719072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GO TO MARKET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53035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llegamos al millón</a:t>
            </a:r>
            <a:endParaRPr lang="en-US" sz="2400" dirty="0"/>
          </a:p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usuarios?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371600"/>
            <a:ext cx="5303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371600"/>
            <a:ext cx="50292" cy="1078992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1463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478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1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66928" y="1664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Meses 1–6: Comunidad primaria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66928" y="190195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Lanzamos con 10 Manadas fundadoras en Colombia. Usuarios early adopters con incentivos en $LUKA. LUKAI hace el onboarding 100% conversacional.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0" y="1463040"/>
            <a:ext cx="1051560" cy="292608"/>
          </a:xfrm>
          <a:prstGeom prst="rect">
            <a:avLst/>
          </a:prstGeom>
          <a:solidFill>
            <a:srgbClr val="D4780A">
              <a:alpha val="15000"/>
            </a:srgbClr>
          </a:solidFill>
          <a:ln w="6350">
            <a:solidFill>
              <a:srgbClr val="D4780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0" y="146304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500 usuarios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411480" y="2560320"/>
            <a:ext cx="5303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1480" y="2560320"/>
            <a:ext cx="50292" cy="107899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66928" y="2651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C9A8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2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28529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Meses 7–18: Crecimiento viral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309067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Manada trae en promedio 8 nuevos usuarios. CAC cae a $3 gracias al referido orgánico. KOLs Jaguar Lock amplifican en redes sociales.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2651760"/>
            <a:ext cx="1051560" cy="292608"/>
          </a:xfrm>
          <a:prstGeom prst="rect">
            <a:avLst/>
          </a:prstGeom>
          <a:solidFill>
            <a:srgbClr val="C9A84C">
              <a:alpha val="15000"/>
            </a:srgbClr>
          </a:solidFill>
          <a:ln w="6350">
            <a:solidFill>
              <a:srgbClr val="C9A84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0" y="26517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10,000 usuarios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11480" y="3749040"/>
            <a:ext cx="530352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11480" y="3749040"/>
            <a:ext cx="50292" cy="1078992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928" y="38404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2A8A5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FASE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66928" y="4041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Meses 19–36: Expansión regional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566928" y="4279392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Aliados RWA e institucionales en México, Perú y Argentina. Sandbox regulatorio SFC Colombia. Integraciones B2B con cooperativas y fondos.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572000" y="3840480"/>
            <a:ext cx="1051560" cy="292608"/>
          </a:xfrm>
          <a:prstGeom prst="rect">
            <a:avLst/>
          </a:prstGeom>
          <a:solidFill>
            <a:srgbClr val="2A8A56">
              <a:alpha val="15000"/>
            </a:srgbClr>
          </a:solidFill>
          <a:ln w="6350">
            <a:solidFill>
              <a:srgbClr val="2A8A5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0" y="384048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100,000 usuarios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035040" y="16459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DE ADQUISICIÓN</a:t>
            </a:r>
            <a:endParaRPr lang="en-US" sz="850" dirty="0"/>
          </a:p>
        </p:txBody>
      </p:sp>
      <p:graphicFrame>
        <p:nvGraphicFramePr>
          <p:cNvPr id="29" name="Chart 0"/>
          <p:cNvGraphicFramePr/>
          <p:nvPr/>
        </p:nvGraphicFramePr>
        <p:xfrm>
          <a:off x="5760720" y="457200"/>
          <a:ext cx="3108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0" name="Shape 26"/>
          <p:cNvSpPr/>
          <p:nvPr/>
        </p:nvSpPr>
        <p:spPr>
          <a:xfrm>
            <a:off x="5760720" y="3090672"/>
            <a:ext cx="3108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97880" y="318211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Objetivo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5897880" y="349300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TAM  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446520" y="349300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650M adultos LATAM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5897880" y="376732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  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6446520" y="37673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 economía informal digital</a:t>
            </a:r>
            <a:endParaRPr lang="en-US" sz="950" dirty="0"/>
          </a:p>
        </p:txBody>
      </p:sp>
      <p:sp>
        <p:nvSpPr>
          <p:cNvPr id="36" name="Text 32"/>
          <p:cNvSpPr/>
          <p:nvPr/>
        </p:nvSpPr>
        <p:spPr>
          <a:xfrm>
            <a:off x="5897880" y="4041648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SOM  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6446520" y="40416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usuarios año 1–2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Banco Mundial · GSMA · OIT · CEPAL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472184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472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EL EQUIPO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Quién hay detrás de LUKASH.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411480" y="1078992"/>
            <a:ext cx="502920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1480" y="1078992"/>
            <a:ext cx="50292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207008"/>
            <a:ext cx="1188720" cy="1188720"/>
          </a:xfrm>
          <a:prstGeom prst="ellipse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49808" y="1298448"/>
            <a:ext cx="969264" cy="9692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65960" y="11887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Ing. Sebastián Botero Pabón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965960" y="152704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&amp; Arquitecto del Protocolo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40080" y="2569464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41248" y="251460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Electrónica y Telecomunicaciones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916936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41248" y="286207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Posgrados en Finanzas y Análisis de Datos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" y="3264408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41248" y="320954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años analizando mercados financieros y blockchain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3611880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41248" y="355701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Diseñador de la arquitectura LUKASH de punta a punta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669280" y="107899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DEL EQUIPO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669280" y="138988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806440" y="14721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&amp; Solana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7818120" y="1481328"/>
            <a:ext cx="914400" cy="256032"/>
          </a:xfrm>
          <a:prstGeom prst="rect">
            <a:avLst/>
          </a:prstGeom>
          <a:solidFill>
            <a:srgbClr val="2A8A56">
              <a:alpha val="18000"/>
            </a:srgbClr>
          </a:solidFill>
          <a:ln w="3810">
            <a:solidFill>
              <a:srgbClr val="2A8A56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818120" y="148132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700" dirty="0"/>
          </a:p>
        </p:txBody>
      </p:sp>
      <p:sp>
        <p:nvSpPr>
          <p:cNvPr id="26" name="Shape 22"/>
          <p:cNvSpPr/>
          <p:nvPr/>
        </p:nvSpPr>
        <p:spPr>
          <a:xfrm>
            <a:off x="5669280" y="1901952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806440" y="198424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Conversacional (LUKAI)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7818120" y="1993392"/>
            <a:ext cx="914400" cy="256032"/>
          </a:xfrm>
          <a:prstGeom prst="rect">
            <a:avLst/>
          </a:prstGeom>
          <a:solidFill>
            <a:srgbClr val="2A8A56">
              <a:alpha val="18000"/>
            </a:srgbClr>
          </a:solidFill>
          <a:ln w="3810">
            <a:solidFill>
              <a:srgbClr val="2A8A56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7818120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700" dirty="0"/>
          </a:p>
        </p:txBody>
      </p:sp>
      <p:sp>
        <p:nvSpPr>
          <p:cNvPr id="30" name="Shape 26"/>
          <p:cNvSpPr/>
          <p:nvPr/>
        </p:nvSpPr>
        <p:spPr>
          <a:xfrm>
            <a:off x="5669280" y="2414016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806440" y="24963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protocolo financiero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7818120" y="2505456"/>
            <a:ext cx="914400" cy="256032"/>
          </a:xfrm>
          <a:prstGeom prst="rect">
            <a:avLst/>
          </a:prstGeom>
          <a:solidFill>
            <a:srgbClr val="2A8A56">
              <a:alpha val="18000"/>
            </a:srgbClr>
          </a:solidFill>
          <a:ln w="3810">
            <a:solidFill>
              <a:srgbClr val="2A8A5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818120" y="25054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Cubierto</a:t>
            </a:r>
            <a:endParaRPr lang="en-US" sz="700" dirty="0"/>
          </a:p>
        </p:txBody>
      </p:sp>
      <p:sp>
        <p:nvSpPr>
          <p:cNvPr id="34" name="Shape 30"/>
          <p:cNvSpPr/>
          <p:nvPr/>
        </p:nvSpPr>
        <p:spPr>
          <a:xfrm>
            <a:off x="5669280" y="2926080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806440" y="30083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front-end wallet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7818120" y="3017520"/>
            <a:ext cx="914400" cy="256032"/>
          </a:xfrm>
          <a:prstGeom prst="rect">
            <a:avLst/>
          </a:prstGeom>
          <a:solidFill>
            <a:srgbClr val="D4780A">
              <a:alpha val="18000"/>
            </a:srgbClr>
          </a:solidFill>
          <a:ln w="3810">
            <a:solidFill>
              <a:srgbClr val="D4780A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818120" y="30175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búsqueda</a:t>
            </a:r>
            <a:endParaRPr lang="en-US" sz="700" dirty="0"/>
          </a:p>
        </p:txBody>
      </p:sp>
      <p:sp>
        <p:nvSpPr>
          <p:cNvPr id="38" name="Shape 34"/>
          <p:cNvSpPr/>
          <p:nvPr/>
        </p:nvSpPr>
        <p:spPr>
          <a:xfrm>
            <a:off x="5669280" y="3438144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5806440" y="35204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Legal LATAM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7818120" y="3529584"/>
            <a:ext cx="914400" cy="256032"/>
          </a:xfrm>
          <a:prstGeom prst="rect">
            <a:avLst/>
          </a:prstGeom>
          <a:solidFill>
            <a:srgbClr val="C9A84C">
              <a:alpha val="18000"/>
            </a:srgbClr>
          </a:solidFill>
          <a:ln w="3810">
            <a:solidFill>
              <a:srgbClr val="C9A84C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7818120" y="352958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externo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5669280" y="3950208"/>
            <a:ext cx="32004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806440" y="40325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y GTM</a:t>
            </a:r>
            <a:endParaRPr lang="en-US" sz="950" dirty="0"/>
          </a:p>
        </p:txBody>
      </p:sp>
      <p:sp>
        <p:nvSpPr>
          <p:cNvPr id="44" name="Shape 40"/>
          <p:cNvSpPr/>
          <p:nvPr/>
        </p:nvSpPr>
        <p:spPr>
          <a:xfrm>
            <a:off x="7818120" y="4041648"/>
            <a:ext cx="914400" cy="256032"/>
          </a:xfrm>
          <a:prstGeom prst="rect">
            <a:avLst/>
          </a:prstGeom>
          <a:solidFill>
            <a:srgbClr val="D4780A">
              <a:alpha val="18000"/>
            </a:srgbClr>
          </a:solidFill>
          <a:ln w="3810">
            <a:solidFill>
              <a:srgbClr val="D4780A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7818120" y="40416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D478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búsqueda</a:t>
            </a:r>
            <a:endParaRPr lang="en-US" sz="700" dirty="0"/>
          </a:p>
        </p:txBody>
      </p:sp>
      <p:sp>
        <p:nvSpPr>
          <p:cNvPr id="46" name="Shape 42"/>
          <p:cNvSpPr/>
          <p:nvPr/>
        </p:nvSpPr>
        <p:spPr>
          <a:xfrm>
            <a:off x="5669280" y="4480560"/>
            <a:ext cx="3200400" cy="411480"/>
          </a:xfrm>
          <a:prstGeom prst="rect">
            <a:avLst/>
          </a:prstGeom>
          <a:solidFill>
            <a:srgbClr val="EAF6EF"/>
          </a:solidFill>
          <a:ln w="6350">
            <a:solidFill>
              <a:srgbClr val="2A8A5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760720" y="44805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A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Buscamos co-fundador técnico para Solana y aliados estratégicos LATAM.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0972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64592"/>
            <a:ext cx="1883664" cy="219456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6459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LO QUE PEDIMOS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57200" y="438912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$800,000 USD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cambiar la historia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dinero latino.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11480" y="1920240"/>
            <a:ext cx="21762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1920240"/>
            <a:ext cx="2176272" cy="411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1208" y="2011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21208" y="24688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$400K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1208" y="272491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técnico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1208" y="29443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contracts + wallet + LUKAI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2743200" y="1920240"/>
            <a:ext cx="21762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0" y="1920240"/>
            <a:ext cx="2176272" cy="41148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52928" y="201168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852928" y="246888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$200K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852928" y="272491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inicial del Vault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852928" y="294436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KASH fundacional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411480" y="3337560"/>
            <a:ext cx="21762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3337560"/>
            <a:ext cx="2176272" cy="41148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1208" y="3429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521208" y="3886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$120K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21208" y="414223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KOLs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1208" y="43616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Lanzamiento y primeras Manadas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2743200" y="3337560"/>
            <a:ext cx="2176272" cy="1298448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743200" y="3337560"/>
            <a:ext cx="2176272" cy="411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852928" y="342900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2852928" y="3886200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$80K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2852928" y="4142232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2852928" y="4361688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SFC Colombia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120640" y="4754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RECIBE EL INVERSIONISTA?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120640" y="804672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30368" y="87782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577840" y="87782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 del 30% de la reserva KASH Sociedad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5577840" y="11521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capital crece con el protocolo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120640" y="1609344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230368" y="168249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577840" y="168249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Flujo perpetuo desde el mes 13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577840" y="19568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directa sin fecha fin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5120640" y="2414016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230368" y="248716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5577840" y="248716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 dilución futura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577840" y="276148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escalamiento lo financia el Vault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120640" y="3218688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230368" y="32918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5577840" y="32918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Jaguar Lock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5577840" y="356616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desembolsado solo por hitos cumplidos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5120640" y="4023360"/>
            <a:ext cx="36576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230368" y="409651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5577840" y="409651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Proyección 63x en Año 1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5577840" y="437083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P50 · 5,000 simulaciones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2286000" y="182880"/>
            <a:ext cx="4572000" cy="24871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42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invito a unirse a la manada y a liderar conmigo el futuro de nuestras 'Lucas'.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090672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¿Contamos con ustedes?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200400" y="3694176"/>
            <a:ext cx="2743200" cy="228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88720" y="3822192"/>
            <a:ext cx="2304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88720" y="3822192"/>
            <a:ext cx="230428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98448" y="38587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$800K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98448" y="42976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Ronda semilla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822192" y="3822192"/>
            <a:ext cx="2304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22192" y="3822192"/>
            <a:ext cx="2304288" cy="36576"/>
          </a:xfrm>
          <a:prstGeom prst="rect">
            <a:avLst/>
          </a:prstGeom>
          <a:solidFill>
            <a:srgbClr val="2A8A56"/>
          </a:solidFill>
          <a:ln w="12700">
            <a:solidFill>
              <a:srgbClr val="2A8A5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38587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A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3931920" y="42976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ruina validado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455664" y="3822192"/>
            <a:ext cx="2304288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55664" y="3822192"/>
            <a:ext cx="2304288" cy="36576"/>
          </a:xfrm>
          <a:prstGeom prst="rect">
            <a:avLst/>
          </a:prstGeom>
          <a:solidFill>
            <a:srgbClr val="D4780A"/>
          </a:solidFill>
          <a:ln w="12700">
            <a:solidFill>
              <a:srgbClr val="D4780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65392" y="38587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78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 13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565392" y="4297680"/>
            <a:ext cx="2084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al inversor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Sebastián Botero Pabón  ·  Arquitecto del Protocolo LUKASH  ·  Marzo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1179</Words>
  <Application>Microsoft Office PowerPoint</Application>
  <PresentationFormat>Presentación en pantalla (16:9)</PresentationFormat>
  <Paragraphs>248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LUKASH — Pitch Deck</dc:title>
  <dc:subject>PptxGenJS Presentation</dc:subject>
  <dc:creator>PptxGenJS</dc:creator>
  <cp:lastModifiedBy>Sebastian Botero</cp:lastModifiedBy>
  <cp:revision>4</cp:revision>
  <dcterms:created xsi:type="dcterms:W3CDTF">2026-03-04T17:11:17Z</dcterms:created>
  <dcterms:modified xsi:type="dcterms:W3CDTF">2026-03-05T14:18:06Z</dcterms:modified>
</cp:coreProperties>
</file>