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8" r:id="rId23"/>
  </p:sldIdLst>
  <p:sldSz cx="9144000" cy="5143500" type="screen16x9"/>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EA9230-6F7A-499C-9953-45A792A7390F}" type="datetimeFigureOut">
              <a:rPr lang="es-CO" smtClean="0"/>
              <a:t>1/03/2026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E7B3F4-C3D0-42AB-AD26-761E393C92A4}" type="slidenum">
              <a:rPr lang="es-CO" smtClean="0"/>
              <a:t>‹Nº›</a:t>
            </a:fld>
            <a:endParaRPr lang="es-CO"/>
          </a:p>
        </p:txBody>
      </p:sp>
    </p:spTree>
    <p:extLst>
      <p:ext uri="{BB962C8B-B14F-4D97-AF65-F5344CB8AC3E}">
        <p14:creationId xmlns:p14="http://schemas.microsoft.com/office/powerpoint/2010/main" val="4005083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7DE7B3F4-C3D0-42AB-AD26-761E393C92A4}" type="slidenum">
              <a:rPr lang="es-CO" smtClean="0"/>
              <a:t>2</a:t>
            </a:fld>
            <a:endParaRPr lang="es-CO"/>
          </a:p>
        </p:txBody>
      </p:sp>
    </p:spTree>
    <p:extLst>
      <p:ext uri="{BB962C8B-B14F-4D97-AF65-F5344CB8AC3E}">
        <p14:creationId xmlns:p14="http://schemas.microsoft.com/office/powerpoint/2010/main" val="20093490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s://bit.ly/3A1uf1Q"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rcRect l="237" r="996"/>
          <a:stretch/>
        </p:blipFill>
        <p:spPr>
          <a:xfrm rot="10800000" flipH="1">
            <a:off x="0" y="-6480"/>
            <a:ext cx="9164160" cy="5149080"/>
          </a:xfrm>
          <a:prstGeom prst="rect">
            <a:avLst/>
          </a:prstGeom>
          <a:noFill/>
          <a:ln w="0">
            <a:noFill/>
          </a:ln>
        </p:spPr>
      </p:pic>
      <p:pic>
        <p:nvPicPr>
          <p:cNvPr id="5" name="Google Shape;10;p2"/>
          <p:cNvPicPr/>
          <p:nvPr/>
        </p:nvPicPr>
        <p:blipFill>
          <a:blip r:embed="rId3">
            <a:alphaModFix amt="50000"/>
          </a:blip>
          <a:srcRect l="771" r="6256"/>
          <a:stretch/>
        </p:blipFill>
        <p:spPr>
          <a:xfrm rot="10800000" flipH="1">
            <a:off x="-58320" y="-6840"/>
            <a:ext cx="9279000" cy="5212440"/>
          </a:xfrm>
          <a:prstGeom prst="rect">
            <a:avLst/>
          </a:prstGeom>
          <a:noFill/>
          <a:ln w="0">
            <a:noFill/>
          </a:ln>
        </p:spPr>
      </p:pic>
      <p:sp>
        <p:nvSpPr>
          <p:cNvPr id="2" name="PlaceHolder 1"/>
          <p:cNvSpPr>
            <a:spLocks noGrp="1"/>
          </p:cNvSpPr>
          <p:nvPr>
            <p:ph type="title"/>
          </p:nvPr>
        </p:nvSpPr>
        <p:spPr>
          <a:xfrm>
            <a:off x="1958400" y="1392840"/>
            <a:ext cx="5226840" cy="1586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85;p11"/>
          <p:cNvPicPr/>
          <p:nvPr/>
        </p:nvPicPr>
        <p:blipFill>
          <a:blip r:embed="rId2"/>
          <a:srcRect l="420" r="-520"/>
          <a:stretch/>
        </p:blipFill>
        <p:spPr>
          <a:xfrm rot="16200000" flipH="1">
            <a:off x="1983960" y="-1990800"/>
            <a:ext cx="5188320" cy="9156240"/>
          </a:xfrm>
          <a:prstGeom prst="rect">
            <a:avLst/>
          </a:prstGeom>
          <a:noFill/>
          <a:ln w="0">
            <a:noFill/>
          </a:ln>
        </p:spPr>
      </p:pic>
      <p:pic>
        <p:nvPicPr>
          <p:cNvPr id="5" name="Google Shape;86;p11"/>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6" name="PlaceHolder 1"/>
          <p:cNvSpPr>
            <a:spLocks noGrp="1"/>
          </p:cNvSpPr>
          <p:nvPr>
            <p:ph type="title"/>
          </p:nvPr>
        </p:nvSpPr>
        <p:spPr>
          <a:xfrm>
            <a:off x="2095560" y="1669680"/>
            <a:ext cx="4952520" cy="1114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 name="Google Shape;91;p13"/>
          <p:cNvPicPr/>
          <p:nvPr/>
        </p:nvPicPr>
        <p:blipFill>
          <a:blip r:embed="rId2"/>
          <a:srcRect l="420" r="-520"/>
          <a:stretch/>
        </p:blipFill>
        <p:spPr>
          <a:xfrm rot="5400000">
            <a:off x="1982520" y="-1990800"/>
            <a:ext cx="5188320" cy="9156240"/>
          </a:xfrm>
          <a:prstGeom prst="rect">
            <a:avLst/>
          </a:prstGeom>
          <a:noFill/>
          <a:ln w="0">
            <a:noFill/>
          </a:ln>
        </p:spPr>
      </p:pic>
      <p:pic>
        <p:nvPicPr>
          <p:cNvPr id="8" name="Google Shape;92;p13"/>
          <p:cNvPicPr/>
          <p:nvPr/>
        </p:nvPicPr>
        <p:blipFill>
          <a:blip r:embed="rId3">
            <a:alphaModFix amt="50000"/>
          </a:blip>
          <a:srcRect l="1158" r="46635" b="51446"/>
          <a:stretch/>
        </p:blipFill>
        <p:spPr>
          <a:xfrm rot="5400000">
            <a:off x="-1330920" y="1316520"/>
            <a:ext cx="5146560" cy="2499480"/>
          </a:xfrm>
          <a:prstGeom prst="rect">
            <a:avLst/>
          </a:prstGeom>
          <a:noFill/>
          <a:ln w="0">
            <a:noFill/>
          </a:ln>
        </p:spPr>
      </p:pic>
      <p:sp>
        <p:nvSpPr>
          <p:cNvPr id="9" name="PlaceHolder 1"/>
          <p:cNvSpPr>
            <a:spLocks noGrp="1"/>
          </p:cNvSpPr>
          <p:nvPr>
            <p:ph type="title"/>
          </p:nvPr>
        </p:nvSpPr>
        <p:spPr>
          <a:xfrm>
            <a:off x="1020960" y="444960"/>
            <a:ext cx="68378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1105200" y="30142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1" name="PlaceHolder 3"/>
          <p:cNvSpPr>
            <a:spLocks noGrp="1"/>
          </p:cNvSpPr>
          <p:nvPr>
            <p:ph type="title"/>
          </p:nvPr>
        </p:nvSpPr>
        <p:spPr>
          <a:xfrm>
            <a:off x="1105200" y="388224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2" name="PlaceHolder 4"/>
          <p:cNvSpPr>
            <a:spLocks noGrp="1"/>
          </p:cNvSpPr>
          <p:nvPr>
            <p:ph type="title"/>
          </p:nvPr>
        </p:nvSpPr>
        <p:spPr>
          <a:xfrm>
            <a:off x="1104840" y="12790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3" name="PlaceHolder 5"/>
          <p:cNvSpPr>
            <a:spLocks noGrp="1"/>
          </p:cNvSpPr>
          <p:nvPr>
            <p:ph type="title"/>
          </p:nvPr>
        </p:nvSpPr>
        <p:spPr>
          <a:xfrm>
            <a:off x="1104840" y="21466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4" name="Google Shape;106;p1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107;p1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108;p1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109;p1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110;p1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111;p1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112;p1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113;p1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pic>
        <p:nvPicPr>
          <p:cNvPr id="22" name="Google Shape;115;p14"/>
          <p:cNvPicPr/>
          <p:nvPr/>
        </p:nvPicPr>
        <p:blipFill>
          <a:blip r:embed="rId2"/>
          <a:srcRect l="420" r="-520"/>
          <a:stretch/>
        </p:blipFill>
        <p:spPr>
          <a:xfrm rot="16200000" flipH="1">
            <a:off x="1983960" y="-1990800"/>
            <a:ext cx="5188320" cy="9156240"/>
          </a:xfrm>
          <a:prstGeom prst="rect">
            <a:avLst/>
          </a:prstGeom>
          <a:noFill/>
          <a:ln w="0">
            <a:noFill/>
          </a:ln>
        </p:spPr>
      </p:pic>
      <p:pic>
        <p:nvPicPr>
          <p:cNvPr id="23" name="Google Shape;116;p14"/>
          <p:cNvPicPr/>
          <p:nvPr/>
        </p:nvPicPr>
        <p:blipFill>
          <a:blip r:embed="rId3">
            <a:alphaModFix amt="50000"/>
          </a:blip>
          <a:srcRect l="1158" r="46635" b="51446"/>
          <a:stretch/>
        </p:blipFill>
        <p:spPr>
          <a:xfrm rot="16200000" flipH="1">
            <a:off x="5333040" y="1316520"/>
            <a:ext cx="5146560" cy="2499480"/>
          </a:xfrm>
          <a:prstGeom prst="rect">
            <a:avLst/>
          </a:prstGeom>
          <a:noFill/>
          <a:ln w="0">
            <a:noFill/>
          </a:ln>
        </p:spPr>
      </p:pic>
      <p:sp>
        <p:nvSpPr>
          <p:cNvPr id="24" name="Google Shape;117;p1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118;p1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PlaceHolder 1"/>
          <p:cNvSpPr>
            <a:spLocks noGrp="1"/>
          </p:cNvSpPr>
          <p:nvPr>
            <p:ph type="title"/>
          </p:nvPr>
        </p:nvSpPr>
        <p:spPr>
          <a:xfrm>
            <a:off x="1225080" y="3724200"/>
            <a:ext cx="6693120" cy="531720"/>
          </a:xfrm>
          <a:prstGeom prst="rect">
            <a:avLst/>
          </a:prstGeom>
          <a:solidFill>
            <a:schemeClr val="lt1"/>
          </a:solid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pic>
        <p:nvPicPr>
          <p:cNvPr id="27" name="Google Shape;122;p15"/>
          <p:cNvPicPr/>
          <p:nvPr/>
        </p:nvPicPr>
        <p:blipFill>
          <a:blip r:embed="rId2"/>
          <a:srcRect l="2210" t="1565" r="2039" b="2427"/>
          <a:stretch/>
        </p:blipFill>
        <p:spPr>
          <a:xfrm rot="10800000" flipH="1">
            <a:off x="-35640" y="-5760"/>
            <a:ext cx="9224280" cy="5202720"/>
          </a:xfrm>
          <a:prstGeom prst="rect">
            <a:avLst/>
          </a:prstGeom>
          <a:noFill/>
          <a:ln w="0">
            <a:noFill/>
          </a:ln>
        </p:spPr>
      </p:pic>
      <p:pic>
        <p:nvPicPr>
          <p:cNvPr id="28" name="Google Shape;123;p15"/>
          <p:cNvPicPr/>
          <p:nvPr/>
        </p:nvPicPr>
        <p:blipFill>
          <a:blip r:embed="rId3">
            <a:alphaModFix amt="50000"/>
          </a:blip>
          <a:srcRect l="28399" r="7263"/>
          <a:stretch/>
        </p:blipFill>
        <p:spPr>
          <a:xfrm rot="10800000" flipH="1">
            <a:off x="0" y="-2520"/>
            <a:ext cx="6342840" cy="5149080"/>
          </a:xfrm>
          <a:prstGeom prst="rect">
            <a:avLst/>
          </a:prstGeom>
          <a:noFill/>
          <a:ln w="0">
            <a:noFill/>
          </a:ln>
        </p:spPr>
      </p:pic>
      <p:sp>
        <p:nvSpPr>
          <p:cNvPr id="29" name="PlaceHolder 1"/>
          <p:cNvSpPr>
            <a:spLocks noGrp="1"/>
          </p:cNvSpPr>
          <p:nvPr>
            <p:ph type="title"/>
          </p:nvPr>
        </p:nvSpPr>
        <p:spPr>
          <a:xfrm>
            <a:off x="1762200" y="2221920"/>
            <a:ext cx="5619600" cy="14205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0" name="PlaceHolder 2"/>
          <p:cNvSpPr>
            <a:spLocks noGrp="1"/>
          </p:cNvSpPr>
          <p:nvPr>
            <p:ph type="title"/>
          </p:nvPr>
        </p:nvSpPr>
        <p:spPr>
          <a:xfrm>
            <a:off x="3730680" y="1028880"/>
            <a:ext cx="1682640" cy="10371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31" name="Google Shape;128;p16"/>
          <p:cNvPicPr/>
          <p:nvPr/>
        </p:nvPicPr>
        <p:blipFill>
          <a:blip r:embed="rId2"/>
          <a:srcRect l="2068" t="1288" r="67847" b="1188"/>
          <a:stretch/>
        </p:blipFill>
        <p:spPr>
          <a:xfrm rot="5400000">
            <a:off x="1976040" y="-2045160"/>
            <a:ext cx="5182920" cy="9237600"/>
          </a:xfrm>
          <a:prstGeom prst="rect">
            <a:avLst/>
          </a:prstGeom>
          <a:noFill/>
          <a:ln w="0">
            <a:noFill/>
          </a:ln>
        </p:spPr>
      </p:pic>
      <p:pic>
        <p:nvPicPr>
          <p:cNvPr id="32" name="Google Shape;129;p16"/>
          <p:cNvPicPr/>
          <p:nvPr/>
        </p:nvPicPr>
        <p:blipFill>
          <a:blip r:embed="rId3">
            <a:alphaModFix amt="50000"/>
          </a:blip>
          <a:srcRect l="10398" t="7567" r="28315" b="-125040"/>
          <a:stretch/>
        </p:blipFill>
        <p:spPr>
          <a:xfrm rot="5400000">
            <a:off x="2179800" y="-1999800"/>
            <a:ext cx="5137920" cy="9143640"/>
          </a:xfrm>
          <a:prstGeom prst="rect">
            <a:avLst/>
          </a:prstGeom>
          <a:noFill/>
          <a:ln w="0">
            <a:noFill/>
          </a:ln>
        </p:spPr>
      </p:pic>
      <p:sp>
        <p:nvSpPr>
          <p:cNvPr id="33" name="Google Shape;130;p1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31;p1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132;p1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33;p16"/>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134;p16"/>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135;p16"/>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136;p16"/>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137;p16"/>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PlaceHolder 1"/>
          <p:cNvSpPr>
            <a:spLocks noGrp="1"/>
          </p:cNvSpPr>
          <p:nvPr>
            <p:ph type="title"/>
          </p:nvPr>
        </p:nvSpPr>
        <p:spPr>
          <a:xfrm>
            <a:off x="1015200" y="866880"/>
            <a:ext cx="3404160" cy="21715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42" name="PlaceHolder 2"/>
          <p:cNvSpPr>
            <a:spLocks noGrp="1"/>
          </p:cNvSpPr>
          <p:nvPr>
            <p:ph type="body"/>
          </p:nvPr>
        </p:nvSpPr>
        <p:spPr>
          <a:xfrm>
            <a:off x="5383080" y="680040"/>
            <a:ext cx="2814120" cy="3783600"/>
          </a:xfrm>
          <a:prstGeom prst="rect">
            <a:avLst/>
          </a:prstGeom>
          <a:noFill/>
          <a:ln w="0">
            <a:noFill/>
          </a:ln>
          <a:effectLst>
            <a:outerShdw blurRad="57240" dist="19080" dir="5400000" rotWithShape="0">
              <a:srgbClr val="0F2A29">
                <a:alpha val="50000"/>
              </a:srgbClr>
            </a:outerShdw>
          </a:effectLst>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43" name="Google Shape;142;p17"/>
          <p:cNvPicPr/>
          <p:nvPr/>
        </p:nvPicPr>
        <p:blipFill>
          <a:blip r:embed="rId2">
            <a:alphaModFix amt="80000"/>
          </a:blip>
          <a:srcRect l="3846"/>
          <a:stretch/>
        </p:blipFill>
        <p:spPr>
          <a:xfrm rot="5400000">
            <a:off x="1992600" y="-2000880"/>
            <a:ext cx="5167800" cy="9156240"/>
          </a:xfrm>
          <a:prstGeom prst="rect">
            <a:avLst/>
          </a:prstGeom>
          <a:noFill/>
          <a:ln w="0">
            <a:noFill/>
          </a:ln>
        </p:spPr>
      </p:pic>
      <p:pic>
        <p:nvPicPr>
          <p:cNvPr id="44" name="Google Shape;143;p17"/>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45" name="PlaceHolder 1"/>
          <p:cNvSpPr>
            <a:spLocks noGrp="1"/>
          </p:cNvSpPr>
          <p:nvPr>
            <p:ph type="title"/>
          </p:nvPr>
        </p:nvSpPr>
        <p:spPr>
          <a:xfrm>
            <a:off x="1053360" y="1333440"/>
            <a:ext cx="2765880" cy="122220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pic>
        <p:nvPicPr>
          <p:cNvPr id="46" name="Google Shape;147;p18"/>
          <p:cNvPicPr/>
          <p:nvPr/>
        </p:nvPicPr>
        <p:blipFill>
          <a:blip r:embed="rId2"/>
          <a:srcRect l="420" r="-520"/>
          <a:stretch/>
        </p:blipFill>
        <p:spPr>
          <a:xfrm rot="5400000" flipH="1">
            <a:off x="1951560" y="-2021400"/>
            <a:ext cx="5250240" cy="9156240"/>
          </a:xfrm>
          <a:prstGeom prst="rect">
            <a:avLst/>
          </a:prstGeom>
          <a:noFill/>
          <a:ln w="0">
            <a:noFill/>
          </a:ln>
        </p:spPr>
      </p:pic>
      <p:pic>
        <p:nvPicPr>
          <p:cNvPr id="47" name="Google Shape;148;p18"/>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48" name="Google Shape;149;p18"/>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150;p18"/>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151;p18"/>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152;p18"/>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153;p18"/>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154;p18"/>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155;p18"/>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156;p18"/>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5230080" y="1410840"/>
            <a:ext cx="2630160" cy="124128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_1">
    <p:bg>
      <p:bgPr>
        <a:solidFill>
          <a:schemeClr val="lt1"/>
        </a:solidFill>
        <a:effectLst/>
      </p:bgPr>
    </p:bg>
    <p:spTree>
      <p:nvGrpSpPr>
        <p:cNvPr id="1" name=""/>
        <p:cNvGrpSpPr/>
        <p:nvPr/>
      </p:nvGrpSpPr>
      <p:grpSpPr>
        <a:xfrm>
          <a:off x="0" y="0"/>
          <a:ext cx="0" cy="0"/>
          <a:chOff x="0" y="0"/>
          <a:chExt cx="0" cy="0"/>
        </a:xfrm>
      </p:grpSpPr>
      <p:pic>
        <p:nvPicPr>
          <p:cNvPr id="57" name="Google Shape;160;p19"/>
          <p:cNvPicPr/>
          <p:nvPr/>
        </p:nvPicPr>
        <p:blipFill>
          <a:blip r:embed="rId2"/>
          <a:srcRect l="420" r="-520"/>
          <a:stretch/>
        </p:blipFill>
        <p:spPr>
          <a:xfrm rot="16200000" flipH="1">
            <a:off x="1981800" y="-1990800"/>
            <a:ext cx="5188320" cy="9156240"/>
          </a:xfrm>
          <a:prstGeom prst="rect">
            <a:avLst/>
          </a:prstGeom>
          <a:noFill/>
          <a:ln w="0">
            <a:noFill/>
          </a:ln>
        </p:spPr>
      </p:pic>
      <p:pic>
        <p:nvPicPr>
          <p:cNvPr id="58" name="Google Shape;161;p19"/>
          <p:cNvPicPr/>
          <p:nvPr/>
        </p:nvPicPr>
        <p:blipFill>
          <a:blip r:embed="rId3">
            <a:alphaModFix amt="50000"/>
          </a:blip>
          <a:srcRect l="1158" r="46635" b="74946"/>
          <a:stretch/>
        </p:blipFill>
        <p:spPr>
          <a:xfrm rot="5400000">
            <a:off x="-1922760" y="1921680"/>
            <a:ext cx="5146560" cy="1289520"/>
          </a:xfrm>
          <a:prstGeom prst="rect">
            <a:avLst/>
          </a:prstGeom>
          <a:noFill/>
          <a:ln w="0">
            <a:noFill/>
          </a:ln>
        </p:spPr>
      </p:pic>
      <p:sp>
        <p:nvSpPr>
          <p:cNvPr id="59" name="Google Shape;162;p1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163;p1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164;p1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3" name="PlaceHolder 2"/>
          <p:cNvSpPr>
            <a:spLocks noGrp="1"/>
          </p:cNvSpPr>
          <p:nvPr>
            <p:ph type="body"/>
          </p:nvPr>
        </p:nvSpPr>
        <p:spPr>
          <a:xfrm>
            <a:off x="726480" y="1017720"/>
            <a:ext cx="7703640" cy="125856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64" name="Google Shape;168;p20"/>
          <p:cNvPicPr/>
          <p:nvPr/>
        </p:nvPicPr>
        <p:blipFill>
          <a:blip r:embed="rId2"/>
          <a:srcRect l="420" r="-520"/>
          <a:stretch/>
        </p:blipFill>
        <p:spPr>
          <a:xfrm rot="5400000">
            <a:off x="1982520" y="-1990800"/>
            <a:ext cx="5188320" cy="9156240"/>
          </a:xfrm>
          <a:prstGeom prst="rect">
            <a:avLst/>
          </a:prstGeom>
          <a:noFill/>
          <a:ln w="0">
            <a:noFill/>
          </a:ln>
        </p:spPr>
      </p:pic>
      <p:pic>
        <p:nvPicPr>
          <p:cNvPr id="65" name="Google Shape;169;p20"/>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sp>
        <p:nvSpPr>
          <p:cNvPr id="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7" name="Google Shape;171;p2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72;p2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173;p2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174;p2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175;p2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176;p2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177;p2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178;p2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75" name="Google Shape;14;p3"/>
          <p:cNvPicPr/>
          <p:nvPr/>
        </p:nvPicPr>
        <p:blipFill>
          <a:blip r:embed="rId2"/>
          <a:srcRect l="239" r="59"/>
          <a:stretch/>
        </p:blipFill>
        <p:spPr>
          <a:xfrm rot="10800000">
            <a:off x="-1800" y="-6480"/>
            <a:ext cx="9143640" cy="5149080"/>
          </a:xfrm>
          <a:prstGeom prst="rect">
            <a:avLst/>
          </a:prstGeom>
          <a:noFill/>
          <a:ln w="0">
            <a:noFill/>
          </a:ln>
        </p:spPr>
      </p:pic>
      <p:pic>
        <p:nvPicPr>
          <p:cNvPr id="76" name="Google Shape;15;p3"/>
          <p:cNvPicPr/>
          <p:nvPr/>
        </p:nvPicPr>
        <p:blipFill>
          <a:blip r:embed="rId3">
            <a:alphaModFix amt="50000"/>
          </a:blip>
          <a:srcRect l="1160" r="6102"/>
          <a:stretch/>
        </p:blipFill>
        <p:spPr>
          <a:xfrm rot="10800000">
            <a:off x="360" y="-6480"/>
            <a:ext cx="9143640" cy="5149080"/>
          </a:xfrm>
          <a:prstGeom prst="rect">
            <a:avLst/>
          </a:prstGeom>
          <a:noFill/>
          <a:ln w="0">
            <a:noFill/>
          </a:ln>
        </p:spPr>
      </p:pic>
      <p:sp>
        <p:nvSpPr>
          <p:cNvPr id="77" name="PlaceHolder 1"/>
          <p:cNvSpPr>
            <a:spLocks noGrp="1"/>
          </p:cNvSpPr>
          <p:nvPr>
            <p:ph type="title"/>
          </p:nvPr>
        </p:nvSpPr>
        <p:spPr>
          <a:xfrm>
            <a:off x="713160" y="2347200"/>
            <a:ext cx="4370400" cy="13053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78" name="PlaceHolder 2"/>
          <p:cNvSpPr>
            <a:spLocks noGrp="1"/>
          </p:cNvSpPr>
          <p:nvPr>
            <p:ph type="title"/>
          </p:nvPr>
        </p:nvSpPr>
        <p:spPr>
          <a:xfrm>
            <a:off x="713160" y="802080"/>
            <a:ext cx="1775160" cy="12369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pic>
        <p:nvPicPr>
          <p:cNvPr id="79" name="Google Shape;180;p21"/>
          <p:cNvPicPr/>
          <p:nvPr/>
        </p:nvPicPr>
        <p:blipFill>
          <a:blip r:embed="rId2"/>
          <a:srcRect l="411" r="1539"/>
          <a:stretch/>
        </p:blipFill>
        <p:spPr>
          <a:xfrm rot="5400000" flipH="1">
            <a:off x="1982520" y="-1990440"/>
            <a:ext cx="5188320" cy="9156240"/>
          </a:xfrm>
          <a:prstGeom prst="rect">
            <a:avLst/>
          </a:prstGeom>
          <a:noFill/>
          <a:ln w="0">
            <a:noFill/>
          </a:ln>
        </p:spPr>
      </p:pic>
      <p:pic>
        <p:nvPicPr>
          <p:cNvPr id="80" name="Google Shape;181;p2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1" name="Google Shape;182;p2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pic>
        <p:nvPicPr>
          <p:cNvPr id="83" name="Google Shape;185;p22"/>
          <p:cNvPicPr/>
          <p:nvPr/>
        </p:nvPicPr>
        <p:blipFill>
          <a:blip r:embed="rId2"/>
          <a:srcRect l="411" r="1539"/>
          <a:stretch/>
        </p:blipFill>
        <p:spPr>
          <a:xfrm rot="5400000" flipH="1">
            <a:off x="1982520" y="-1990440"/>
            <a:ext cx="5188320" cy="9156240"/>
          </a:xfrm>
          <a:prstGeom prst="rect">
            <a:avLst/>
          </a:prstGeom>
          <a:noFill/>
          <a:ln w="0">
            <a:noFill/>
          </a:ln>
        </p:spPr>
      </p:pic>
      <p:pic>
        <p:nvPicPr>
          <p:cNvPr id="84" name="Google Shape;186;p22"/>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5" name="Google Shape;187;p22"/>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pic>
        <p:nvPicPr>
          <p:cNvPr id="87" name="Google Shape;190;p23"/>
          <p:cNvPicPr/>
          <p:nvPr/>
        </p:nvPicPr>
        <p:blipFill>
          <a:blip r:embed="rId2"/>
          <a:srcRect l="420" r="-520"/>
          <a:stretch/>
        </p:blipFill>
        <p:spPr>
          <a:xfrm rot="16200000" flipH="1">
            <a:off x="1976040" y="-1990800"/>
            <a:ext cx="5188320" cy="9156240"/>
          </a:xfrm>
          <a:prstGeom prst="rect">
            <a:avLst/>
          </a:prstGeom>
          <a:noFill/>
          <a:ln w="0">
            <a:noFill/>
          </a:ln>
        </p:spPr>
      </p:pic>
      <p:pic>
        <p:nvPicPr>
          <p:cNvPr id="88" name="Google Shape;191;p23"/>
          <p:cNvPicPr/>
          <p:nvPr/>
        </p:nvPicPr>
        <p:blipFill>
          <a:blip r:embed="rId3">
            <a:alphaModFix amt="50000"/>
          </a:blip>
          <a:srcRect l="1158" r="46635" b="51446"/>
          <a:stretch/>
        </p:blipFill>
        <p:spPr>
          <a:xfrm rot="16200000" flipH="1">
            <a:off x="5331240" y="1316520"/>
            <a:ext cx="5146560" cy="2499480"/>
          </a:xfrm>
          <a:prstGeom prst="rect">
            <a:avLst/>
          </a:prstGeom>
          <a:noFill/>
          <a:ln w="0">
            <a:noFill/>
          </a:ln>
        </p:spPr>
      </p:pic>
      <p:sp>
        <p:nvSpPr>
          <p:cNvPr id="89" name="Google Shape;192;p2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193;p2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 name="Google Shape;194;p2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195;p2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196;p2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197;p2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98;p2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99;p2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PlaceHolder 1"/>
          <p:cNvSpPr>
            <a:spLocks noGrp="1"/>
          </p:cNvSpPr>
          <p:nvPr>
            <p:ph type="title"/>
          </p:nvPr>
        </p:nvSpPr>
        <p:spPr>
          <a:xfrm>
            <a:off x="713160" y="444960"/>
            <a:ext cx="7717320" cy="7873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pic>
        <p:nvPicPr>
          <p:cNvPr id="98" name="Google Shape;206;p24"/>
          <p:cNvPicPr/>
          <p:nvPr/>
        </p:nvPicPr>
        <p:blipFill>
          <a:blip r:embed="rId2"/>
          <a:srcRect l="420" r="-520"/>
          <a:stretch/>
        </p:blipFill>
        <p:spPr>
          <a:xfrm rot="5400000">
            <a:off x="1982520" y="-1990800"/>
            <a:ext cx="5188320" cy="9156240"/>
          </a:xfrm>
          <a:prstGeom prst="rect">
            <a:avLst/>
          </a:prstGeom>
          <a:noFill/>
          <a:ln w="0">
            <a:noFill/>
          </a:ln>
        </p:spPr>
      </p:pic>
      <p:pic>
        <p:nvPicPr>
          <p:cNvPr id="99" name="Google Shape;207;p24"/>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pic>
        <p:nvPicPr>
          <p:cNvPr id="100" name="Google Shape;208;p24"/>
          <p:cNvPicPr/>
          <p:nvPr/>
        </p:nvPicPr>
        <p:blipFill>
          <a:blip r:embed="rId3">
            <a:alphaModFix amt="50000"/>
          </a:blip>
          <a:srcRect l="42826" t="34159" r="14891" b="9626"/>
          <a:stretch/>
        </p:blipFill>
        <p:spPr>
          <a:xfrm rot="10800000" flipH="1">
            <a:off x="6480" y="2274840"/>
            <a:ext cx="4168080" cy="2894040"/>
          </a:xfrm>
          <a:prstGeom prst="rect">
            <a:avLst/>
          </a:prstGeom>
          <a:noFill/>
          <a:ln w="0">
            <a:noFill/>
          </a:ln>
        </p:spPr>
      </p:pic>
      <p:sp>
        <p:nvSpPr>
          <p:cNvPr id="101" name="PlaceHolder 1"/>
          <p:cNvSpPr>
            <a:spLocks noGrp="1"/>
          </p:cNvSpPr>
          <p:nvPr>
            <p:ph type="title"/>
          </p:nvPr>
        </p:nvSpPr>
        <p:spPr>
          <a:xfrm>
            <a:off x="1477440" y="444960"/>
            <a:ext cx="6189120" cy="12085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102" name="Google Shape;213;p25"/>
          <p:cNvPicPr/>
          <p:nvPr/>
        </p:nvPicPr>
        <p:blipFill>
          <a:blip r:embed="rId2"/>
          <a:srcRect l="-112" r="68722"/>
          <a:stretch/>
        </p:blipFill>
        <p:spPr>
          <a:xfrm rot="5400000">
            <a:off x="1961640" y="-2017080"/>
            <a:ext cx="5220720" cy="9143640"/>
          </a:xfrm>
          <a:prstGeom prst="rect">
            <a:avLst/>
          </a:prstGeom>
          <a:noFill/>
          <a:ln w="0">
            <a:noFill/>
          </a:ln>
        </p:spPr>
      </p:pic>
      <p:pic>
        <p:nvPicPr>
          <p:cNvPr id="103" name="Google Shape;214;p25"/>
          <p:cNvPicPr/>
          <p:nvPr/>
        </p:nvPicPr>
        <p:blipFill>
          <a:blip r:embed="rId3">
            <a:alphaModFix amt="50000"/>
          </a:blip>
          <a:srcRect l="25091" t="64070" r="46719" b="-15030"/>
          <a:stretch/>
        </p:blipFill>
        <p:spPr>
          <a:xfrm rot="5400000">
            <a:off x="5543280" y="174960"/>
            <a:ext cx="3763080" cy="3412440"/>
          </a:xfrm>
          <a:prstGeom prst="rect">
            <a:avLst/>
          </a:prstGeom>
          <a:noFill/>
          <a:ln w="0">
            <a:noFill/>
          </a:ln>
        </p:spPr>
      </p:pic>
      <p:sp>
        <p:nvSpPr>
          <p:cNvPr id="104" name="PlaceHolder 1"/>
          <p:cNvSpPr>
            <a:spLocks noGrp="1"/>
          </p:cNvSpPr>
          <p:nvPr>
            <p:ph type="title"/>
          </p:nvPr>
        </p:nvSpPr>
        <p:spPr>
          <a:xfrm>
            <a:off x="1486080" y="444960"/>
            <a:ext cx="6171480" cy="122148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05" name="Google Shape;222;p25"/>
          <p:cNvPicPr/>
          <p:nvPr/>
        </p:nvPicPr>
        <p:blipFill>
          <a:blip r:embed="rId3">
            <a:alphaModFix amt="50000"/>
          </a:blip>
          <a:srcRect l="25091" t="15030" r="46719" b="74075"/>
          <a:stretch/>
        </p:blipFill>
        <p:spPr>
          <a:xfrm rot="5400000">
            <a:off x="-1624320" y="1577520"/>
            <a:ext cx="3912840" cy="75780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106" name="Google Shape;224;p26"/>
          <p:cNvPicPr/>
          <p:nvPr/>
        </p:nvPicPr>
        <p:blipFill>
          <a:blip r:embed="rId2"/>
          <a:srcRect l="420" t="-242" r="-520" b="-242"/>
          <a:stretch/>
        </p:blipFill>
        <p:spPr>
          <a:xfrm rot="16200000" flipH="1">
            <a:off x="1983960" y="-2013120"/>
            <a:ext cx="5188320" cy="9200880"/>
          </a:xfrm>
          <a:prstGeom prst="rect">
            <a:avLst/>
          </a:prstGeom>
          <a:noFill/>
          <a:ln w="0">
            <a:noFill/>
          </a:ln>
        </p:spPr>
      </p:pic>
      <p:pic>
        <p:nvPicPr>
          <p:cNvPr id="107" name="Google Shape;225;p26"/>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108" name="Google Shape;226;p2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227;p2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228;p2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112" name="Google Shape;239;p27"/>
          <p:cNvPicPr/>
          <p:nvPr/>
        </p:nvPicPr>
        <p:blipFill>
          <a:blip r:embed="rId2"/>
          <a:srcRect l="1525" t="2828" r="67003" b="2562"/>
          <a:stretch/>
        </p:blipFill>
        <p:spPr>
          <a:xfrm rot="5400000">
            <a:off x="1971000" y="-2064240"/>
            <a:ext cx="5233680" cy="9224640"/>
          </a:xfrm>
          <a:prstGeom prst="rect">
            <a:avLst/>
          </a:prstGeom>
          <a:noFill/>
          <a:ln w="0">
            <a:noFill/>
          </a:ln>
        </p:spPr>
      </p:pic>
      <p:pic>
        <p:nvPicPr>
          <p:cNvPr id="113" name="Google Shape;240;p27"/>
          <p:cNvPicPr/>
          <p:nvPr/>
        </p:nvPicPr>
        <p:blipFill>
          <a:blip r:embed="rId3">
            <a:alphaModFix amt="50000"/>
          </a:blip>
          <a:srcRect l="10398" t="17263" r="28315" b="-125022"/>
          <a:stretch/>
        </p:blipFill>
        <p:spPr>
          <a:xfrm rot="5400000">
            <a:off x="2273040" y="-1877040"/>
            <a:ext cx="5137920" cy="8735760"/>
          </a:xfrm>
          <a:prstGeom prst="rect">
            <a:avLst/>
          </a:prstGeom>
          <a:noFill/>
          <a:ln w="0">
            <a:noFill/>
          </a:ln>
        </p:spPr>
      </p:pic>
      <p:sp>
        <p:nvSpPr>
          <p:cNvPr id="114" name="Google Shape;241;p2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242;p2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243;p2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44;p2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45;p2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46;p2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47;p2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48;p2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grpSp>
        <p:nvGrpSpPr>
          <p:cNvPr id="123" name="Google Shape;263;p28"/>
          <p:cNvGrpSpPr/>
          <p:nvPr/>
        </p:nvGrpSpPr>
        <p:grpSpPr>
          <a:xfrm>
            <a:off x="-1440" y="-6840"/>
            <a:ext cx="9156240" cy="5181120"/>
            <a:chOff x="-1440" y="-6840"/>
            <a:chExt cx="9156240" cy="5181120"/>
          </a:xfrm>
        </p:grpSpPr>
        <p:pic>
          <p:nvPicPr>
            <p:cNvPr id="124" name="Google Shape;264;p28"/>
            <p:cNvPicPr/>
            <p:nvPr/>
          </p:nvPicPr>
          <p:blipFill>
            <a:blip r:embed="rId2">
              <a:alphaModFix amt="80000"/>
            </a:blip>
            <a:srcRect l="5275" r="44373"/>
            <a:stretch/>
          </p:blipFill>
          <p:spPr>
            <a:xfrm rot="5400000" flipH="1">
              <a:off x="3238560" y="-741960"/>
              <a:ext cx="2676240" cy="9156240"/>
            </a:xfrm>
            <a:prstGeom prst="rect">
              <a:avLst/>
            </a:prstGeom>
            <a:noFill/>
            <a:ln w="0">
              <a:noFill/>
            </a:ln>
          </p:spPr>
        </p:pic>
        <p:pic>
          <p:nvPicPr>
            <p:cNvPr id="125" name="Google Shape;265;p28"/>
            <p:cNvPicPr/>
            <p:nvPr/>
          </p:nvPicPr>
          <p:blipFill>
            <a:blip r:embed="rId2">
              <a:alphaModFix amt="80000"/>
            </a:blip>
            <a:srcRect l="3991" r="46660"/>
            <a:stretch/>
          </p:blipFill>
          <p:spPr>
            <a:xfrm rot="5400000">
              <a:off x="3297960" y="-3306240"/>
              <a:ext cx="2557080" cy="9156240"/>
            </a:xfrm>
            <a:prstGeom prst="rect">
              <a:avLst/>
            </a:prstGeom>
            <a:noFill/>
            <a:ln w="0">
              <a:noFill/>
            </a:ln>
          </p:spPr>
        </p:pic>
      </p:grpSp>
      <p:pic>
        <p:nvPicPr>
          <p:cNvPr id="126" name="Google Shape;266;p28"/>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127" name="PlaceHolder 1"/>
          <p:cNvSpPr>
            <a:spLocks noGrp="1"/>
          </p:cNvSpPr>
          <p:nvPr>
            <p:ph type="title"/>
          </p:nvPr>
        </p:nvSpPr>
        <p:spPr>
          <a:xfrm>
            <a:off x="88596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28" name="PlaceHolder 2"/>
          <p:cNvSpPr>
            <a:spLocks noGrp="1"/>
          </p:cNvSpPr>
          <p:nvPr>
            <p:ph type="title"/>
          </p:nvPr>
        </p:nvSpPr>
        <p:spPr>
          <a:xfrm>
            <a:off x="34531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29" name="PlaceHolder 3"/>
          <p:cNvSpPr>
            <a:spLocks noGrp="1"/>
          </p:cNvSpPr>
          <p:nvPr>
            <p:ph type="title"/>
          </p:nvPr>
        </p:nvSpPr>
        <p:spPr>
          <a:xfrm>
            <a:off x="60199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lt1"/>
        </a:solidFill>
        <a:effectLst/>
      </p:bgPr>
    </p:bg>
    <p:spTree>
      <p:nvGrpSpPr>
        <p:cNvPr id="1" name=""/>
        <p:cNvGrpSpPr/>
        <p:nvPr/>
      </p:nvGrpSpPr>
      <p:grpSpPr>
        <a:xfrm>
          <a:off x="0" y="0"/>
          <a:ext cx="0" cy="0"/>
          <a:chOff x="0" y="0"/>
          <a:chExt cx="0" cy="0"/>
        </a:xfrm>
      </p:grpSpPr>
      <p:pic>
        <p:nvPicPr>
          <p:cNvPr id="130" name="Google Shape;274;p29"/>
          <p:cNvPicPr/>
          <p:nvPr/>
        </p:nvPicPr>
        <p:blipFill>
          <a:blip r:embed="rId2"/>
          <a:srcRect l="420" r="-500"/>
          <a:stretch/>
        </p:blipFill>
        <p:spPr>
          <a:xfrm rot="5400000" flipH="1">
            <a:off x="1964520" y="-2008080"/>
            <a:ext cx="5223960" cy="9156240"/>
          </a:xfrm>
          <a:prstGeom prst="rect">
            <a:avLst/>
          </a:prstGeom>
          <a:noFill/>
          <a:ln w="0">
            <a:noFill/>
          </a:ln>
        </p:spPr>
      </p:pic>
      <p:pic>
        <p:nvPicPr>
          <p:cNvPr id="131" name="Google Shape;275;p29"/>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sp>
        <p:nvSpPr>
          <p:cNvPr id="132" name="Google Shape;276;p2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277;p2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78;p2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279;p29"/>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80;p2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281;p29"/>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82;p29"/>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283;p29"/>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PlaceHolder 1"/>
          <p:cNvSpPr>
            <a:spLocks noGrp="1"/>
          </p:cNvSpPr>
          <p:nvPr>
            <p:ph type="title"/>
          </p:nvPr>
        </p:nvSpPr>
        <p:spPr>
          <a:xfrm>
            <a:off x="996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1" name="PlaceHolder 2"/>
          <p:cNvSpPr>
            <a:spLocks noGrp="1"/>
          </p:cNvSpPr>
          <p:nvPr>
            <p:ph type="title"/>
          </p:nvPr>
        </p:nvSpPr>
        <p:spPr>
          <a:xfrm>
            <a:off x="3543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2" name="PlaceHolder 3"/>
          <p:cNvSpPr>
            <a:spLocks noGrp="1"/>
          </p:cNvSpPr>
          <p:nvPr>
            <p:ph type="title"/>
          </p:nvPr>
        </p:nvSpPr>
        <p:spPr>
          <a:xfrm>
            <a:off x="609012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3" name="PlaceHolder 4"/>
          <p:cNvSpPr>
            <a:spLocks noGrp="1"/>
          </p:cNvSpPr>
          <p:nvPr>
            <p:ph type="title"/>
          </p:nvPr>
        </p:nvSpPr>
        <p:spPr>
          <a:xfrm>
            <a:off x="720000" y="450360"/>
            <a:ext cx="7703640" cy="5670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44" name="Google Shape;294;p29"/>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145" name="Google Shape;296;p30"/>
          <p:cNvPicPr/>
          <p:nvPr/>
        </p:nvPicPr>
        <p:blipFill>
          <a:blip r:embed="rId2"/>
          <a:srcRect l="-2502" t="-2753" r="-2693" b="-2753"/>
          <a:stretch/>
        </p:blipFill>
        <p:spPr>
          <a:xfrm rot="10800000">
            <a:off x="-253440" y="-148320"/>
            <a:ext cx="9647640" cy="5432760"/>
          </a:xfrm>
          <a:prstGeom prst="rect">
            <a:avLst/>
          </a:prstGeom>
          <a:noFill/>
          <a:ln w="0">
            <a:noFill/>
          </a:ln>
        </p:spPr>
      </p:pic>
      <p:pic>
        <p:nvPicPr>
          <p:cNvPr id="146" name="Google Shape;297;p30"/>
          <p:cNvPicPr/>
          <p:nvPr/>
        </p:nvPicPr>
        <p:blipFill>
          <a:blip r:embed="rId3">
            <a:alphaModFix amt="50000"/>
          </a:blip>
          <a:srcRect l="1030" r="6109"/>
          <a:stretch/>
        </p:blipFill>
        <p:spPr>
          <a:xfrm rot="10800000">
            <a:off x="360" y="-2520"/>
            <a:ext cx="9155880" cy="5149080"/>
          </a:xfrm>
          <a:prstGeom prst="rect">
            <a:avLst/>
          </a:prstGeom>
          <a:noFill/>
          <a:ln w="0">
            <a:noFill/>
          </a:ln>
        </p:spPr>
      </p:pic>
      <p:sp>
        <p:nvSpPr>
          <p:cNvPr id="147" name="Google Shape;298;p3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 name="Google Shape;299;p3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300;p3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301;p3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302;p3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303;p3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304;p3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305;p3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PlaceHolder 1"/>
          <p:cNvSpPr>
            <a:spLocks noGrp="1"/>
          </p:cNvSpPr>
          <p:nvPr>
            <p:ph type="title"/>
          </p:nvPr>
        </p:nvSpPr>
        <p:spPr>
          <a:xfrm>
            <a:off x="961560" y="655200"/>
            <a:ext cx="4475160" cy="108936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156" name="Google Shape;308;p30"/>
          <p:cNvSpPr/>
          <p:nvPr/>
        </p:nvSpPr>
        <p:spPr>
          <a:xfrm>
            <a:off x="713160" y="3670920"/>
            <a:ext cx="4971600" cy="527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hlink"/>
                </a:solidFill>
                <a:effectLst/>
                <a:uFillTx/>
                <a:latin typeface="Albert Sans"/>
                <a:ea typeface="Albert Sans"/>
                <a:hlinkClick r:id="rId4"/>
              </a:rPr>
              <a:t>Slidesgo</a:t>
            </a:r>
            <a:r>
              <a:rPr lang="en" sz="1200" b="0" u="none" strike="noStrike">
                <a:solidFill>
                  <a:schemeClr val="dk1"/>
                </a:solidFill>
                <a:effectLst/>
                <a:uFillTx/>
                <a:latin typeface="Albert Sans"/>
                <a:ea typeface="Albert Sans"/>
              </a:rPr>
              <a:t>, and includes icons by </a:t>
            </a:r>
            <a:r>
              <a:rPr lang="en" sz="1200" b="1" u="sng" strike="noStrike">
                <a:solidFill>
                  <a:schemeClr val="hlink"/>
                </a:solidFill>
                <a:effectLst/>
                <a:uFillTx/>
                <a:latin typeface="Albert Sans"/>
                <a:ea typeface="Albert Sans"/>
                <a:hlinkClick r:id="rId5"/>
              </a:rPr>
              <a:t>Flaticon</a:t>
            </a:r>
            <a:r>
              <a:rPr lang="en" sz="1200" b="1" u="sng" strike="noStrike">
                <a:solidFill>
                  <a:schemeClr val="hlink"/>
                </a:solidFill>
                <a:effectLst/>
                <a:uFillTx/>
                <a:latin typeface="Albert Sans"/>
                <a:ea typeface="Albert Sans"/>
                <a:hlinkClick r:id="rId5"/>
              </a:rPr>
              <a:t> </a:t>
            </a:r>
            <a:r>
              <a:rPr lang="en" sz="1200" b="0" u="none" strike="noStrike">
                <a:solidFill>
                  <a:schemeClr val="dk1"/>
                </a:solidFill>
                <a:effectLst/>
                <a:uFillTx/>
                <a:latin typeface="Albert Sans"/>
                <a:ea typeface="Albert Sans"/>
              </a:rPr>
              <a:t>and infographics &amp; images by </a:t>
            </a:r>
            <a:r>
              <a:rPr lang="en" sz="1200" b="1" u="sng" strike="noStrike">
                <a:solidFill>
                  <a:schemeClr val="hlink"/>
                </a:solidFill>
                <a:effectLst/>
                <a:uFillTx/>
                <a:latin typeface="Albert Sans"/>
                <a:ea typeface="Albert Sans"/>
                <a:hlinkClick r:id="rId6"/>
              </a:rPr>
              <a:t>Freepik</a:t>
            </a:r>
            <a:endParaRPr lang="en-US" sz="1200" b="0" u="none" strike="noStrike">
              <a:solidFill>
                <a:srgbClr val="FFFFFF"/>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157" name="Google Shape;20;p4"/>
          <p:cNvPicPr/>
          <p:nvPr/>
        </p:nvPicPr>
        <p:blipFill>
          <a:blip r:embed="rId2"/>
          <a:srcRect l="239" r="59"/>
          <a:stretch/>
        </p:blipFill>
        <p:spPr>
          <a:xfrm rot="10800000">
            <a:off x="-1800" y="-6480"/>
            <a:ext cx="9143640" cy="5149080"/>
          </a:xfrm>
          <a:prstGeom prst="rect">
            <a:avLst/>
          </a:prstGeom>
          <a:noFill/>
          <a:ln w="0">
            <a:noFill/>
          </a:ln>
        </p:spPr>
      </p:pic>
      <p:pic>
        <p:nvPicPr>
          <p:cNvPr id="158" name="Google Shape;21;p4"/>
          <p:cNvPicPr/>
          <p:nvPr/>
        </p:nvPicPr>
        <p:blipFill>
          <a:blip r:embed="rId3">
            <a:alphaModFix amt="50000"/>
          </a:blip>
          <a:srcRect l="28399" r="7263"/>
          <a:stretch/>
        </p:blipFill>
        <p:spPr>
          <a:xfrm rot="10800000">
            <a:off x="2805840" y="-6480"/>
            <a:ext cx="6342840" cy="5149080"/>
          </a:xfrm>
          <a:prstGeom prst="rect">
            <a:avLst/>
          </a:prstGeom>
          <a:noFill/>
          <a:ln w="0">
            <a:noFill/>
          </a:ln>
        </p:spPr>
      </p:pic>
      <p:sp>
        <p:nvSpPr>
          <p:cNvPr id="159" name="Google Shape;22;p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23;p4"/>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24;p4"/>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5;p4"/>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6;p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27;p4"/>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28;p4"/>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29;p4"/>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68" name="PlaceHolder 2"/>
          <p:cNvSpPr>
            <a:spLocks noGrp="1"/>
          </p:cNvSpPr>
          <p:nvPr>
            <p:ph type="body"/>
          </p:nvPr>
        </p:nvSpPr>
        <p:spPr>
          <a:xfrm>
            <a:off x="726480" y="1017720"/>
            <a:ext cx="7703640" cy="35506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169" name="Google Shape;310;p31"/>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311;p31"/>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312;p31"/>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72" name="Google Shape;313;p31"/>
          <p:cNvPicPr/>
          <p:nvPr/>
        </p:nvPicPr>
        <p:blipFill>
          <a:blip r:embed="rId2"/>
          <a:srcRect l="414" r="553"/>
          <a:stretch/>
        </p:blipFill>
        <p:spPr>
          <a:xfrm rot="5400000" flipH="1">
            <a:off x="1982520" y="-1990440"/>
            <a:ext cx="5188320" cy="9156240"/>
          </a:xfrm>
          <a:prstGeom prst="rect">
            <a:avLst/>
          </a:prstGeom>
          <a:noFill/>
          <a:ln w="0">
            <a:noFill/>
          </a:ln>
        </p:spPr>
      </p:pic>
      <p:pic>
        <p:nvPicPr>
          <p:cNvPr id="173" name="Google Shape;314;p3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174" name="Google Shape;315;p3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175" name="Google Shape;317;p32"/>
          <p:cNvPicPr/>
          <p:nvPr/>
        </p:nvPicPr>
        <p:blipFill>
          <a:blip r:embed="rId2"/>
          <a:srcRect l="392" r="68538"/>
          <a:stretch/>
        </p:blipFill>
        <p:spPr>
          <a:xfrm rot="5400000">
            <a:off x="1981440" y="-1997640"/>
            <a:ext cx="5181480" cy="9143640"/>
          </a:xfrm>
          <a:prstGeom prst="rect">
            <a:avLst/>
          </a:prstGeom>
          <a:noFill/>
          <a:ln w="0">
            <a:noFill/>
          </a:ln>
        </p:spPr>
      </p:pic>
      <p:pic>
        <p:nvPicPr>
          <p:cNvPr id="176" name="Google Shape;318;p32"/>
          <p:cNvPicPr/>
          <p:nvPr/>
        </p:nvPicPr>
        <p:blipFill>
          <a:blip r:embed="rId3">
            <a:alphaModFix amt="50000"/>
          </a:blip>
          <a:srcRect l="10398" t="7567" r="28315" b="-125040"/>
          <a:stretch/>
        </p:blipFill>
        <p:spPr>
          <a:xfrm rot="5400000">
            <a:off x="2003040" y="-2000160"/>
            <a:ext cx="5137920" cy="9143640"/>
          </a:xfrm>
          <a:prstGeom prst="rect">
            <a:avLst/>
          </a:prstGeom>
          <a:noFill/>
          <a:ln w="0">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177" name="Google Shape;33;p5"/>
          <p:cNvPicPr/>
          <p:nvPr/>
        </p:nvPicPr>
        <p:blipFill>
          <a:blip r:embed="rId2"/>
          <a:srcRect l="414" r="682"/>
          <a:stretch/>
        </p:blipFill>
        <p:spPr>
          <a:xfrm rot="5400000" flipH="1">
            <a:off x="1982520" y="-1990440"/>
            <a:ext cx="5188320" cy="9156240"/>
          </a:xfrm>
          <a:prstGeom prst="rect">
            <a:avLst/>
          </a:prstGeom>
          <a:noFill/>
          <a:ln w="0">
            <a:noFill/>
          </a:ln>
        </p:spPr>
      </p:pic>
      <p:pic>
        <p:nvPicPr>
          <p:cNvPr id="178" name="Google Shape;34;p5"/>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179" name="Google Shape;35;p5"/>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36;p5"/>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37;p5"/>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38;p5"/>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39;p5"/>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40;p5"/>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41;p5"/>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42;p5"/>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188" name="Google Shape;49;p6"/>
          <p:cNvPicPr/>
          <p:nvPr/>
        </p:nvPicPr>
        <p:blipFill>
          <a:blip r:embed="rId2"/>
          <a:srcRect l="420" r="-671"/>
          <a:stretch/>
        </p:blipFill>
        <p:spPr>
          <a:xfrm rot="5400000" flipH="1">
            <a:off x="1955160" y="-2017800"/>
            <a:ext cx="5243040" cy="9156240"/>
          </a:xfrm>
          <a:prstGeom prst="rect">
            <a:avLst/>
          </a:prstGeom>
          <a:noFill/>
          <a:ln w="0">
            <a:noFill/>
          </a:ln>
        </p:spPr>
      </p:pic>
      <p:pic>
        <p:nvPicPr>
          <p:cNvPr id="189" name="Google Shape;50;p6"/>
          <p:cNvPicPr/>
          <p:nvPr/>
        </p:nvPicPr>
        <p:blipFill>
          <a:blip r:embed="rId3">
            <a:alphaModFix amt="50000"/>
          </a:blip>
          <a:srcRect l="1158" r="46635" b="83855"/>
          <a:stretch/>
        </p:blipFill>
        <p:spPr>
          <a:xfrm rot="16200000">
            <a:off x="6168240" y="2193120"/>
            <a:ext cx="5146560" cy="830520"/>
          </a:xfrm>
          <a:prstGeom prst="rect">
            <a:avLst/>
          </a:prstGeom>
          <a:noFill/>
          <a:ln w="0">
            <a:noFill/>
          </a:ln>
        </p:spPr>
      </p:pic>
      <p:pic>
        <p:nvPicPr>
          <p:cNvPr id="190" name="Google Shape;51;p6"/>
          <p:cNvPicPr/>
          <p:nvPr/>
        </p:nvPicPr>
        <p:blipFill>
          <a:blip r:embed="rId3">
            <a:alphaModFix amt="50000"/>
          </a:blip>
          <a:srcRect l="15469" t="60441" r="5793" b="-7605"/>
          <a:stretch/>
        </p:blipFill>
        <p:spPr>
          <a:xfrm>
            <a:off x="0" y="0"/>
            <a:ext cx="7763400" cy="2428200"/>
          </a:xfrm>
          <a:prstGeom prst="rect">
            <a:avLst/>
          </a:prstGeom>
          <a:noFill/>
          <a:ln w="0">
            <a:noFill/>
          </a:ln>
        </p:spPr>
      </p:pic>
      <p:sp>
        <p:nvSpPr>
          <p:cNvPr id="191" name="Google Shape;52;p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53;p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54;p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9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196" name="Google Shape;57;p7"/>
          <p:cNvPicPr/>
          <p:nvPr/>
        </p:nvPicPr>
        <p:blipFill>
          <a:blip r:embed="rId2"/>
          <a:srcRect l="2006" t="1597" r="1085" b="1597"/>
          <a:stretch/>
        </p:blipFill>
        <p:spPr>
          <a:xfrm rot="5400000" flipH="1">
            <a:off x="1982520" y="-2006280"/>
            <a:ext cx="5188320" cy="9156240"/>
          </a:xfrm>
          <a:prstGeom prst="rect">
            <a:avLst/>
          </a:prstGeom>
          <a:noFill/>
          <a:ln w="0">
            <a:noFill/>
          </a:ln>
        </p:spPr>
      </p:pic>
      <p:sp>
        <p:nvSpPr>
          <p:cNvPr id="197" name="Google Shape;58;p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59;p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60;p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61;p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62;p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63;p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64;p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65;p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PlaceHolder 1"/>
          <p:cNvSpPr>
            <a:spLocks noGrp="1"/>
          </p:cNvSpPr>
          <p:nvPr>
            <p:ph type="title"/>
          </p:nvPr>
        </p:nvSpPr>
        <p:spPr>
          <a:xfrm>
            <a:off x="713160" y="444960"/>
            <a:ext cx="2962800" cy="123084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206" name="PlaceHolder 2"/>
          <p:cNvSpPr>
            <a:spLocks noGrp="1"/>
          </p:cNvSpPr>
          <p:nvPr>
            <p:ph type="body"/>
          </p:nvPr>
        </p:nvSpPr>
        <p:spPr>
          <a:xfrm>
            <a:off x="713160" y="1905840"/>
            <a:ext cx="4058280" cy="2171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pic>
        <p:nvPicPr>
          <p:cNvPr id="207" name="Google Shape;68;p7"/>
          <p:cNvPicPr/>
          <p:nvPr/>
        </p:nvPicPr>
        <p:blipFill>
          <a:blip r:embed="rId3">
            <a:alphaModFix amt="50000"/>
          </a:blip>
          <a:srcRect l="1158" t="763" r="46635" b="79202"/>
          <a:stretch/>
        </p:blipFill>
        <p:spPr>
          <a:xfrm rot="16200000">
            <a:off x="6077520" y="2072160"/>
            <a:ext cx="5188320" cy="1030680"/>
          </a:xfrm>
          <a:prstGeom prst="rect">
            <a:avLst/>
          </a:prstGeom>
          <a:noFill/>
          <a:ln w="0">
            <a:noFill/>
          </a:ln>
        </p:spPr>
      </p:pic>
      <p:pic>
        <p:nvPicPr>
          <p:cNvPr id="208" name="Google Shape;69;p7"/>
          <p:cNvPicPr/>
          <p:nvPr/>
        </p:nvPicPr>
        <p:blipFill>
          <a:blip r:embed="rId3">
            <a:alphaModFix amt="50000"/>
          </a:blip>
          <a:srcRect l="15470" t="60306" r="7161" b="-7602"/>
          <a:stretch/>
        </p:blipFill>
        <p:spPr>
          <a:xfrm>
            <a:off x="0" y="-6840"/>
            <a:ext cx="7627680" cy="2435040"/>
          </a:xfrm>
          <a:prstGeom prst="rect">
            <a:avLst/>
          </a:prstGeom>
          <a:noFill/>
          <a:ln w="0">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209" name="Google Shape;71;p8"/>
          <p:cNvPicPr/>
          <p:nvPr/>
        </p:nvPicPr>
        <p:blipFill>
          <a:blip r:embed="rId2"/>
          <a:srcRect l="10976" r="57908" b="-360"/>
          <a:stretch/>
        </p:blipFill>
        <p:spPr>
          <a:xfrm rot="16200000" flipH="1">
            <a:off x="2000520" y="-2010240"/>
            <a:ext cx="5175000" cy="9176400"/>
          </a:xfrm>
          <a:prstGeom prst="rect">
            <a:avLst/>
          </a:prstGeom>
          <a:noFill/>
          <a:ln w="0">
            <a:noFill/>
          </a:ln>
        </p:spPr>
      </p:pic>
      <p:pic>
        <p:nvPicPr>
          <p:cNvPr id="210" name="Google Shape;72;p8"/>
          <p:cNvPicPr/>
          <p:nvPr/>
        </p:nvPicPr>
        <p:blipFill>
          <a:blip r:embed="rId3">
            <a:alphaModFix amt="50000"/>
          </a:blip>
          <a:srcRect l="7180" t="26476" r="31009" b="-92169"/>
          <a:stretch/>
        </p:blipFill>
        <p:spPr>
          <a:xfrm rot="16200000" flipH="1">
            <a:off x="893520" y="-893520"/>
            <a:ext cx="5187240" cy="6974280"/>
          </a:xfrm>
          <a:prstGeom prst="rect">
            <a:avLst/>
          </a:prstGeom>
          <a:noFill/>
          <a:ln w="0">
            <a:noFill/>
          </a:ln>
        </p:spPr>
      </p:pic>
      <p:sp>
        <p:nvSpPr>
          <p:cNvPr id="211" name="PlaceHolder 1"/>
          <p:cNvSpPr>
            <a:spLocks noGrp="1"/>
          </p:cNvSpPr>
          <p:nvPr>
            <p:ph type="title"/>
          </p:nvPr>
        </p:nvSpPr>
        <p:spPr>
          <a:xfrm>
            <a:off x="1769760" y="1657440"/>
            <a:ext cx="5603760" cy="1828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212" name="Google Shape;75;p9"/>
          <p:cNvPicPr/>
          <p:nvPr/>
        </p:nvPicPr>
        <p:blipFill>
          <a:blip r:embed="rId2"/>
          <a:srcRect l="133" r="68724"/>
          <a:stretch/>
        </p:blipFill>
        <p:spPr>
          <a:xfrm rot="5400000">
            <a:off x="1982520" y="-1996560"/>
            <a:ext cx="5179320" cy="9143640"/>
          </a:xfrm>
          <a:prstGeom prst="rect">
            <a:avLst/>
          </a:prstGeom>
          <a:noFill/>
          <a:ln w="0">
            <a:noFill/>
          </a:ln>
        </p:spPr>
      </p:pic>
      <p:pic>
        <p:nvPicPr>
          <p:cNvPr id="213" name="Google Shape;76;p9"/>
          <p:cNvPicPr/>
          <p:nvPr/>
        </p:nvPicPr>
        <p:blipFill>
          <a:blip r:embed="rId3">
            <a:alphaModFix amt="50000"/>
          </a:blip>
          <a:srcRect l="10082" t="7567" r="28313" b="-125040"/>
          <a:stretch/>
        </p:blipFill>
        <p:spPr>
          <a:xfrm rot="5400000">
            <a:off x="2702880" y="-1996200"/>
            <a:ext cx="5164560" cy="9143640"/>
          </a:xfrm>
          <a:prstGeom prst="rect">
            <a:avLst/>
          </a:prstGeom>
          <a:noFill/>
          <a:ln w="0">
            <a:noFill/>
          </a:ln>
        </p:spPr>
      </p:pic>
      <p:sp>
        <p:nvSpPr>
          <p:cNvPr id="214" name="Google Shape;77;p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78;p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PlaceHolder 1"/>
          <p:cNvSpPr>
            <a:spLocks noGrp="1"/>
          </p:cNvSpPr>
          <p:nvPr>
            <p:ph type="title"/>
          </p:nvPr>
        </p:nvSpPr>
        <p:spPr>
          <a:xfrm>
            <a:off x="1577880" y="1430280"/>
            <a:ext cx="5428800" cy="1117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217" name="PlaceHolder 1"/>
          <p:cNvSpPr>
            <a:spLocks noGrp="1"/>
          </p:cNvSpPr>
          <p:nvPr>
            <p:ph type="body"/>
          </p:nvPr>
        </p:nvSpPr>
        <p:spPr>
          <a:xfrm>
            <a:off x="0" y="-6840"/>
            <a:ext cx="9143640" cy="514800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18" name="PlaceHolder 2"/>
          <p:cNvSpPr>
            <a:spLocks noGrp="1"/>
          </p:cNvSpPr>
          <p:nvPr>
            <p:ph type="title"/>
          </p:nvPr>
        </p:nvSpPr>
        <p:spPr>
          <a:xfrm>
            <a:off x="3867120" y="3327840"/>
            <a:ext cx="4563000" cy="1280520"/>
          </a:xfrm>
          <a:prstGeom prst="rect">
            <a:avLst/>
          </a:prstGeom>
          <a:solidFill>
            <a:schemeClr val="lt1"/>
          </a:solidFill>
          <a:ln w="0">
            <a:noFill/>
          </a:ln>
        </p:spPr>
        <p:txBody>
          <a:bodyPr lIns="91440" tIns="91440" rIns="91440" bIns="91440" anchor="ctr">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219"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puertaishtar.blogspot.com/2011/05/bibliografia-la-epopeya-de-gilgamesh.html" TargetMode="External"/><Relationship Id="rId2" Type="http://schemas.openxmlformats.org/officeDocument/2006/relationships/image" Target="../media/image4.jp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subTitle"/>
          </p:nvPr>
        </p:nvSpPr>
        <p:spPr>
          <a:xfrm>
            <a:off x="1962000" y="3209760"/>
            <a:ext cx="5229000" cy="542520"/>
          </a:xfrm>
          <a:prstGeom prst="rect">
            <a:avLst/>
          </a:prstGeom>
          <a:solidFill>
            <a:schemeClr val="lt1"/>
          </a:solidFill>
          <a:ln w="0">
            <a:noFill/>
          </a:ln>
        </p:spPr>
        <p:txBody>
          <a:bodyPr lIns="91440" tIns="91440" rIns="91440" bIns="91440" anchor="ctr">
            <a:normAutofit/>
          </a:bodyPr>
          <a:lstStyle/>
          <a:p>
            <a:pPr algn="ctr"/>
            <a:r>
              <a:rPr lang="en-US" sz="1600" b="0" u="none" strike="noStrike" dirty="0">
                <a:solidFill>
                  <a:schemeClr val="dk1"/>
                </a:solidFill>
                <a:effectLst/>
                <a:uFillTx/>
                <a:latin typeface="Albert Sans"/>
                <a:ea typeface="Albert Sans"/>
              </a:rPr>
              <a:t>Rosangelica - Gabriel - Juan Camilo</a:t>
            </a:r>
          </a:p>
          <a:p>
            <a:pPr algn="ctr"/>
            <a:endParaRPr lang="en-US" sz="1600" b="0" u="none" strike="noStrike" dirty="0">
              <a:solidFill>
                <a:schemeClr val="dk1"/>
              </a:solidFill>
              <a:effectLst/>
              <a:uFillTx/>
              <a:latin typeface="Albert Sans"/>
              <a:ea typeface="Albert Sans"/>
            </a:endParaRPr>
          </a:p>
        </p:txBody>
      </p:sp>
      <p:sp>
        <p:nvSpPr>
          <p:cNvPr id="221" name="PlaceHolder 2"/>
          <p:cNvSpPr>
            <a:spLocks noGrp="1"/>
          </p:cNvSpPr>
          <p:nvPr>
            <p:ph type="title"/>
          </p:nvPr>
        </p:nvSpPr>
        <p:spPr>
          <a:xfrm>
            <a:off x="1962000" y="1390680"/>
            <a:ext cx="5229000" cy="15904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4000" b="1" u="none" strike="noStrike">
                <a:solidFill>
                  <a:schemeClr val="dk1"/>
                </a:solidFill>
                <a:effectLst/>
                <a:uFillTx/>
                <a:latin typeface="DM Sans ExtraBold"/>
                <a:ea typeface="DM Sans ExtraBold"/>
              </a:rPr>
              <a:t>Transhumanismo Actual</a:t>
            </a:r>
            <a:endParaRPr lang="fr-FR" sz="4000" b="0" u="none" strike="noStrike">
              <a:solidFill>
                <a:schemeClr val="dk1"/>
              </a:solidFill>
              <a:effectLst/>
              <a:uFillTx/>
              <a:latin typeface="Arial"/>
            </a:endParaRPr>
          </a:p>
        </p:txBody>
      </p:sp>
      <p:sp>
        <p:nvSpPr>
          <p:cNvPr id="222" name="Google Shape;331;p36"/>
          <p:cNvSpPr/>
          <p:nvPr/>
        </p:nvSpPr>
        <p:spPr>
          <a:xfrm>
            <a:off x="6429240" y="542880"/>
            <a:ext cx="1999800" cy="475920"/>
          </a:xfrm>
          <a:prstGeom prst="rect">
            <a:avLst/>
          </a:prstGeom>
          <a:noFill/>
          <a:ln w="0">
            <a:noFill/>
          </a:ln>
        </p:spPr>
        <p:style>
          <a:lnRef idx="0">
            <a:scrgbClr r="0" g="0" b="0"/>
          </a:lnRef>
          <a:fillRef idx="0">
            <a:scrgbClr r="0" g="0" b="0"/>
          </a:fillRef>
          <a:effectRef idx="0">
            <a:scrgbClr r="0" g="0" b="0"/>
          </a:effectRef>
          <a:fontRef idx="minor"/>
        </p:style>
        <p:txBody>
          <a:bodyPr lIns="870823080" tIns="237960" rIns="870823080" bIns="237960" anchor="t">
            <a:normAutofit fontScale="25000" lnSpcReduction="20000"/>
          </a:bodyPr>
          <a:lstStyle/>
          <a:p>
            <a:pPr algn="ctr" defTabSz="914400">
              <a:lnSpc>
                <a:spcPct val="90000"/>
              </a:lnSpc>
              <a:tabLst>
                <a:tab pos="0" algn="l"/>
              </a:tabLst>
            </a:pPr>
            <a:r>
              <a:rPr lang="en" sz="2000" b="0" u="none" strike="noStrike">
                <a:solidFill>
                  <a:schemeClr val="dk1"/>
                </a:solidFill>
                <a:effectLst/>
                <a:uFillTx/>
                <a:latin typeface="Arial"/>
              </a:rPr>
              <a:t>10th grade</a:t>
            </a:r>
            <a:endParaRPr lang="en-US" sz="20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2"/>
          <p:cNvSpPr>
            <a:spLocks noGrp="1"/>
          </p:cNvSpPr>
          <p:nvPr>
            <p:ph type="subTitle"/>
          </p:nvPr>
        </p:nvSpPr>
        <p:spPr>
          <a:xfrm>
            <a:off x="554877" y="2020712"/>
            <a:ext cx="3675983" cy="1932982"/>
          </a:xfrm>
          <a:prstGeom prst="rect">
            <a:avLst/>
          </a:prstGeom>
          <a:noFill/>
          <a:ln w="0">
            <a:noFill/>
          </a:ln>
        </p:spPr>
        <p:txBody>
          <a:bodyPr lIns="91440" tIns="91440" rIns="91440" bIns="91440" anchor="t">
            <a:normAutofit fontScale="47500" lnSpcReduction="20000"/>
          </a:bodyPr>
          <a:lstStyle/>
          <a:p>
            <a:pPr algn="ctr"/>
            <a:r>
              <a:rPr lang="es-CO" dirty="0"/>
              <a:t>Hoy vamos a explorar un tema que parece sacado de la ciencia ficción, pero que en realidad tiene raíces tan antiguas como la humanidad misma: el </a:t>
            </a:r>
            <a:r>
              <a:rPr lang="es-CO" b="1" i="1" u="sng" dirty="0"/>
              <a:t>transhumanismo</a:t>
            </a:r>
            <a:endParaRPr lang="en-US" sz="1400" b="0" i="1" u="sng" strike="noStrike" dirty="0">
              <a:solidFill>
                <a:schemeClr val="dk1"/>
              </a:solidFill>
              <a:effectLst/>
              <a:uFillTx/>
              <a:latin typeface="Albert Sans"/>
              <a:ea typeface="Albert Sans"/>
            </a:endParaRPr>
          </a:p>
        </p:txBody>
      </p:sp>
      <p:sp>
        <p:nvSpPr>
          <p:cNvPr id="3" name="Título 2">
            <a:extLst>
              <a:ext uri="{FF2B5EF4-FFF2-40B4-BE49-F238E27FC236}">
                <a16:creationId xmlns:a16="http://schemas.microsoft.com/office/drawing/2014/main" id="{85ADBAAD-1881-3A81-4E0B-AE7B71FC8994}"/>
              </a:ext>
            </a:extLst>
          </p:cNvPr>
          <p:cNvSpPr>
            <a:spLocks noGrp="1"/>
          </p:cNvSpPr>
          <p:nvPr>
            <p:ph type="title"/>
          </p:nvPr>
        </p:nvSpPr>
        <p:spPr>
          <a:xfrm>
            <a:off x="213738" y="391695"/>
            <a:ext cx="4513476" cy="1114200"/>
          </a:xfrm>
        </p:spPr>
        <p:txBody>
          <a:bodyPr/>
          <a:lstStyle/>
          <a:p>
            <a:r>
              <a:rPr lang="es-CO" sz="3200" dirty="0"/>
              <a:t>TRANSHUMANISMO</a:t>
            </a:r>
          </a:p>
        </p:txBody>
      </p:sp>
      <p:pic>
        <p:nvPicPr>
          <p:cNvPr id="7" name="Imagen 6">
            <a:extLst>
              <a:ext uri="{FF2B5EF4-FFF2-40B4-BE49-F238E27FC236}">
                <a16:creationId xmlns:a16="http://schemas.microsoft.com/office/drawing/2014/main" id="{4B0BC911-7E25-A4B1-3A98-9B69E56286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999" y="0"/>
            <a:ext cx="4662311"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Rectángulo 225"/>
          <p:cNvSpPr/>
          <p:nvPr/>
        </p:nvSpPr>
        <p:spPr>
          <a:xfrm>
            <a:off x="4691427" y="1052014"/>
            <a:ext cx="3790920" cy="861774"/>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dirty="0">
                <a:solidFill>
                  <a:schemeClr val="dk1"/>
                </a:solidFill>
                <a:latin typeface="Calibri"/>
              </a:rPr>
              <a:t>Gilgamesh</a:t>
            </a:r>
            <a:endParaRPr lang="en-US" sz="5000" b="0" u="none" strike="noStrike" dirty="0">
              <a:solidFill>
                <a:srgbClr val="FFFFFF"/>
              </a:solidFill>
              <a:effectLst/>
              <a:uFillTx/>
              <a:latin typeface="OpenSymbol"/>
            </a:endParaRPr>
          </a:p>
        </p:txBody>
      </p:sp>
      <p:sp>
        <p:nvSpPr>
          <p:cNvPr id="227" name="Rectángulo 226"/>
          <p:cNvSpPr/>
          <p:nvPr/>
        </p:nvSpPr>
        <p:spPr>
          <a:xfrm>
            <a:off x="4777347" y="2219062"/>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4000" b="0" u="none" strike="noStrike" dirty="0">
                <a:solidFill>
                  <a:srgbClr val="FFFFFF"/>
                </a:solidFill>
                <a:effectLst/>
                <a:uFillTx/>
                <a:latin typeface="OpenSymbol"/>
              </a:rPr>
              <a:t>Un semi </a:t>
            </a:r>
            <a:r>
              <a:rPr lang="en-US" sz="4000" b="0" u="none" strike="noStrike" dirty="0" err="1">
                <a:solidFill>
                  <a:srgbClr val="FFFFFF"/>
                </a:solidFill>
                <a:effectLst/>
                <a:uFillTx/>
                <a:latin typeface="OpenSymbol"/>
              </a:rPr>
              <a:t>dios</a:t>
            </a:r>
            <a:r>
              <a:rPr lang="en-US" sz="4000" b="0" u="none" strike="noStrike" dirty="0">
                <a:solidFill>
                  <a:srgbClr val="FFFFFF"/>
                </a:solidFill>
                <a:effectLst/>
                <a:uFillTx/>
                <a:latin typeface="OpenSymbol"/>
              </a:rPr>
              <a:t> </a:t>
            </a:r>
            <a:r>
              <a:rPr lang="en-US" sz="4000" dirty="0" err="1">
                <a:solidFill>
                  <a:srgbClr val="FFFFFF"/>
                </a:solidFill>
                <a:latin typeface="OpenSymbol"/>
              </a:rPr>
              <a:t>S</a:t>
            </a:r>
            <a:r>
              <a:rPr lang="en-US" sz="4000" b="0" u="none" strike="noStrike" dirty="0" err="1">
                <a:solidFill>
                  <a:srgbClr val="FFFFFF"/>
                </a:solidFill>
                <a:effectLst/>
                <a:uFillTx/>
                <a:latin typeface="OpenSymbol"/>
              </a:rPr>
              <a:t>umerio</a:t>
            </a:r>
            <a:r>
              <a:rPr lang="en-US" sz="4000" b="0" u="none" strike="noStrike" dirty="0">
                <a:solidFill>
                  <a:srgbClr val="FFFFFF"/>
                </a:solidFill>
                <a:effectLst/>
                <a:uFillTx/>
                <a:latin typeface="OpenSymbol"/>
              </a:rPr>
              <a:t>, </a:t>
            </a:r>
            <a:r>
              <a:rPr lang="en-US" sz="4000" b="0" u="none" strike="noStrike" dirty="0" err="1">
                <a:solidFill>
                  <a:srgbClr val="FFFFFF"/>
                </a:solidFill>
                <a:effectLst/>
                <a:uFillTx/>
                <a:latin typeface="OpenSymbol"/>
              </a:rPr>
              <a:t>quien</a:t>
            </a:r>
            <a:r>
              <a:rPr lang="en-US" sz="4000" b="0" u="none" strike="noStrike" dirty="0">
                <a:solidFill>
                  <a:srgbClr val="FFFFFF"/>
                </a:solidFill>
                <a:effectLst/>
                <a:uFillTx/>
                <a:latin typeface="OpenSymbol"/>
              </a:rPr>
              <a:t> </a:t>
            </a:r>
            <a:r>
              <a:rPr lang="en-US" sz="4000" b="0" u="none" strike="noStrike" dirty="0" err="1">
                <a:solidFill>
                  <a:srgbClr val="FFFFFF"/>
                </a:solidFill>
                <a:effectLst/>
                <a:uFillTx/>
                <a:latin typeface="OpenSymbol"/>
              </a:rPr>
              <a:t>buscaba</a:t>
            </a:r>
            <a:r>
              <a:rPr lang="en-US" sz="4000" b="0" u="none" strike="noStrike" dirty="0">
                <a:solidFill>
                  <a:srgbClr val="FFFFFF"/>
                </a:solidFill>
                <a:effectLst/>
                <a:uFillTx/>
                <a:latin typeface="OpenSymbol"/>
              </a:rPr>
              <a:t> ser </a:t>
            </a:r>
            <a:r>
              <a:rPr lang="en-US" sz="4000" b="0" u="none" strike="noStrike" dirty="0" err="1">
                <a:solidFill>
                  <a:srgbClr val="FFFFFF"/>
                </a:solidFill>
                <a:effectLst/>
                <a:uFillTx/>
                <a:latin typeface="OpenSymbol"/>
              </a:rPr>
              <a:t>inmortal</a:t>
            </a:r>
            <a:endParaRPr lang="en-US" sz="4000" b="0" u="none" strike="noStrike" dirty="0">
              <a:solidFill>
                <a:srgbClr val="FFFFFF"/>
              </a:solidFill>
              <a:effectLst/>
              <a:uFillTx/>
              <a:latin typeface="OpenSymbol"/>
            </a:endParaRPr>
          </a:p>
        </p:txBody>
      </p:sp>
      <p:pic>
        <p:nvPicPr>
          <p:cNvPr id="3" name="Imagen 2">
            <a:extLst>
              <a:ext uri="{FF2B5EF4-FFF2-40B4-BE49-F238E27FC236}">
                <a16:creationId xmlns:a16="http://schemas.microsoft.com/office/drawing/2014/main" id="{94E0CB30-A1B1-313B-67BD-56814386DF0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71751" y="333375"/>
            <a:ext cx="3028950" cy="4476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ectángulo 228"/>
          <p:cNvSpPr/>
          <p:nvPr/>
        </p:nvSpPr>
        <p:spPr>
          <a:xfrm>
            <a:off x="476280" y="476280"/>
            <a:ext cx="3508698"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3500" b="0" u="none" strike="noStrike" dirty="0">
              <a:solidFill>
                <a:srgbClr val="FFFFFF"/>
              </a:solidFill>
              <a:effectLst/>
              <a:uFillTx/>
              <a:latin typeface="OpenSymbol"/>
            </a:endParaRPr>
          </a:p>
        </p:txBody>
      </p:sp>
      <p:sp>
        <p:nvSpPr>
          <p:cNvPr id="230" name="Rectángulo 22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endParaRPr lang="en-US" sz="1200" b="0" u="none" strike="noStrike" dirty="0">
              <a:solidFill>
                <a:srgbClr val="FFFFFF"/>
              </a:solidFill>
              <a:effectLst/>
              <a:uFillTx/>
              <a:latin typeface="OpenSymbol"/>
            </a:endParaRPr>
          </a:p>
        </p:txBody>
      </p:sp>
      <p:pic>
        <p:nvPicPr>
          <p:cNvPr id="3" name="Imagen 2" descr="Imagen que contiene perro, hombre, puesto, pájaro&#10;&#10;El contenido generado por IA puede ser incorrecto.">
            <a:extLst>
              <a:ext uri="{FF2B5EF4-FFF2-40B4-BE49-F238E27FC236}">
                <a16:creationId xmlns:a16="http://schemas.microsoft.com/office/drawing/2014/main" id="{C54237D9-6C2A-2036-EC26-F1D8F5D554B6}"/>
              </a:ext>
            </a:extLst>
          </p:cNvPr>
          <p:cNvPicPr>
            <a:picLocks noChangeAspect="1"/>
          </p:cNvPicPr>
          <p:nvPr/>
        </p:nvPicPr>
        <p:blipFill>
          <a:blip r:embed="rId2"/>
          <a:stretch>
            <a:fillRect/>
          </a:stretch>
        </p:blipFill>
        <p:spPr>
          <a:xfrm>
            <a:off x="649694" y="1569156"/>
            <a:ext cx="3829385" cy="2946400"/>
          </a:xfrm>
          <a:prstGeom prst="rect">
            <a:avLst/>
          </a:prstGeom>
        </p:spPr>
      </p:pic>
      <p:pic>
        <p:nvPicPr>
          <p:cNvPr id="5" name="Imagen 4" descr="Pájaro volando en el cielo&#10;&#10;El contenido generado por IA puede ser incorrecto.">
            <a:extLst>
              <a:ext uri="{FF2B5EF4-FFF2-40B4-BE49-F238E27FC236}">
                <a16:creationId xmlns:a16="http://schemas.microsoft.com/office/drawing/2014/main" id="{3B12BA52-6932-651D-60A6-DCDBE9E61BFE}"/>
              </a:ext>
            </a:extLst>
          </p:cNvPr>
          <p:cNvPicPr>
            <a:picLocks noChangeAspect="1"/>
          </p:cNvPicPr>
          <p:nvPr/>
        </p:nvPicPr>
        <p:blipFill>
          <a:blip r:embed="rId3"/>
          <a:stretch>
            <a:fillRect/>
          </a:stretch>
        </p:blipFill>
        <p:spPr>
          <a:xfrm>
            <a:off x="4847960" y="1569155"/>
            <a:ext cx="3819400" cy="2946399"/>
          </a:xfrm>
          <a:prstGeom prst="rect">
            <a:avLst/>
          </a:prstGeom>
        </p:spPr>
      </p:pic>
      <p:sp>
        <p:nvSpPr>
          <p:cNvPr id="6" name="Rectángulo 5">
            <a:extLst>
              <a:ext uri="{FF2B5EF4-FFF2-40B4-BE49-F238E27FC236}">
                <a16:creationId xmlns:a16="http://schemas.microsoft.com/office/drawing/2014/main" id="{FB4A8579-4807-A689-3C17-7A38FF741870}"/>
              </a:ext>
            </a:extLst>
          </p:cNvPr>
          <p:cNvSpPr/>
          <p:nvPr/>
        </p:nvSpPr>
        <p:spPr>
          <a:xfrm>
            <a:off x="628680" y="628680"/>
            <a:ext cx="3508698"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3500" b="0" u="none" strike="noStrike" dirty="0">
              <a:solidFill>
                <a:srgbClr val="FFFFFF"/>
              </a:solidFill>
              <a:effectLst/>
              <a:uFillTx/>
              <a:latin typeface="OpenSymbol"/>
            </a:endParaRPr>
          </a:p>
        </p:txBody>
      </p:sp>
      <p:sp>
        <p:nvSpPr>
          <p:cNvPr id="7" name="CuadroTexto 6">
            <a:extLst>
              <a:ext uri="{FF2B5EF4-FFF2-40B4-BE49-F238E27FC236}">
                <a16:creationId xmlns:a16="http://schemas.microsoft.com/office/drawing/2014/main" id="{F69C5981-362A-0A2A-8F75-A21EADAB40C4}"/>
              </a:ext>
            </a:extLst>
          </p:cNvPr>
          <p:cNvSpPr txBox="1"/>
          <p:nvPr/>
        </p:nvSpPr>
        <p:spPr>
          <a:xfrm>
            <a:off x="1580136" y="638400"/>
            <a:ext cx="1941689" cy="461665"/>
          </a:xfrm>
          <a:prstGeom prst="rect">
            <a:avLst/>
          </a:prstGeom>
          <a:noFill/>
        </p:spPr>
        <p:txBody>
          <a:bodyPr wrap="square" rtlCol="0">
            <a:spAutoFit/>
          </a:bodyPr>
          <a:lstStyle/>
          <a:p>
            <a:r>
              <a:rPr lang="es-CO" sz="2400" b="1" dirty="0"/>
              <a:t>PROMETEO</a:t>
            </a:r>
          </a:p>
        </p:txBody>
      </p:sp>
      <p:sp>
        <p:nvSpPr>
          <p:cNvPr id="8" name="CuadroTexto 7">
            <a:extLst>
              <a:ext uri="{FF2B5EF4-FFF2-40B4-BE49-F238E27FC236}">
                <a16:creationId xmlns:a16="http://schemas.microsoft.com/office/drawing/2014/main" id="{E8E61B10-3D95-26C9-464E-FF9B3FA6563B}"/>
              </a:ext>
            </a:extLst>
          </p:cNvPr>
          <p:cNvSpPr txBox="1"/>
          <p:nvPr/>
        </p:nvSpPr>
        <p:spPr>
          <a:xfrm>
            <a:off x="5317387" y="638400"/>
            <a:ext cx="2880545" cy="461665"/>
          </a:xfrm>
          <a:prstGeom prst="rect">
            <a:avLst/>
          </a:prstGeom>
          <a:noFill/>
        </p:spPr>
        <p:txBody>
          <a:bodyPr wrap="square" rtlCol="0">
            <a:spAutoFit/>
          </a:bodyPr>
          <a:lstStyle/>
          <a:p>
            <a:r>
              <a:rPr lang="es-CO" sz="2400" b="1" dirty="0"/>
              <a:t>DEDALO E ICARO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ángulo 230"/>
          <p:cNvSpPr/>
          <p:nvPr/>
        </p:nvSpPr>
        <p:spPr>
          <a:xfrm>
            <a:off x="476640" y="1085215"/>
            <a:ext cx="3957747" cy="1639809"/>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55000" lnSpcReduction="20000"/>
          </a:bodyPr>
          <a:lstStyle/>
          <a:p>
            <a:pPr lvl="0"/>
            <a:r>
              <a:rPr lang="es-CO" sz="2500" dirty="0"/>
              <a:t>Fue un sabio con una curiosidad científica inmensa. Su defensa de la alquimia permitió que esta se viera no como magia negra, sino como una proto-ciencia  que buscaba entender las leyes de la materia.</a:t>
            </a:r>
          </a:p>
          <a:p>
            <a:r>
              <a:rPr lang="es-CO" sz="2500" dirty="0"/>
              <a:t> El </a:t>
            </a:r>
            <a:r>
              <a:rPr lang="es-CO" sz="2500" dirty="0" err="1"/>
              <a:t>alquimismo</a:t>
            </a:r>
            <a:r>
              <a:rPr lang="es-CO" sz="2500" dirty="0"/>
              <a:t> no se entiende como una ciencia sino como una proto-ciencia</a:t>
            </a:r>
          </a:p>
          <a:p>
            <a:r>
              <a:rPr lang="es-CO" dirty="0"/>
              <a:t> </a:t>
            </a:r>
          </a:p>
        </p:txBody>
      </p:sp>
      <p:sp>
        <p:nvSpPr>
          <p:cNvPr id="232" name="Rectángulo 231"/>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A5E73280-BCF5-97E2-CC2A-024535E5B952}"/>
              </a:ext>
            </a:extLst>
          </p:cNvPr>
          <p:cNvSpPr txBox="1"/>
          <p:nvPr/>
        </p:nvSpPr>
        <p:spPr>
          <a:xfrm>
            <a:off x="790222" y="349956"/>
            <a:ext cx="3048000" cy="369332"/>
          </a:xfrm>
          <a:prstGeom prst="rect">
            <a:avLst/>
          </a:prstGeom>
          <a:noFill/>
        </p:spPr>
        <p:txBody>
          <a:bodyPr wrap="square" rtlCol="0">
            <a:spAutoFit/>
          </a:bodyPr>
          <a:lstStyle/>
          <a:p>
            <a:r>
              <a:rPr lang="es-CO" dirty="0"/>
              <a:t>ALBERTO MAGNO</a:t>
            </a:r>
          </a:p>
        </p:txBody>
      </p:sp>
      <p:sp>
        <p:nvSpPr>
          <p:cNvPr id="3" name="CuadroTexto 2">
            <a:extLst>
              <a:ext uri="{FF2B5EF4-FFF2-40B4-BE49-F238E27FC236}">
                <a16:creationId xmlns:a16="http://schemas.microsoft.com/office/drawing/2014/main" id="{947457E2-5112-0F10-952F-AA79A73BD6ED}"/>
              </a:ext>
            </a:extLst>
          </p:cNvPr>
          <p:cNvSpPr txBox="1"/>
          <p:nvPr/>
        </p:nvSpPr>
        <p:spPr>
          <a:xfrm>
            <a:off x="4709616" y="1085215"/>
            <a:ext cx="4118296" cy="2092881"/>
          </a:xfrm>
          <a:prstGeom prst="rect">
            <a:avLst/>
          </a:prstGeom>
          <a:noFill/>
        </p:spPr>
        <p:txBody>
          <a:bodyPr wrap="square" rtlCol="0">
            <a:spAutoFit/>
          </a:bodyPr>
          <a:lstStyle/>
          <a:p>
            <a:pPr lvl="0"/>
            <a:r>
              <a:rPr lang="es-CO" sz="1400" dirty="0"/>
              <a:t>Al integrar  la filosofía aristotélica con el cristianismo, ayudó a consolidar la idea de que la naturaleza tiene leyes que la razón humana puede comprender y, por extensión, utilizar para el beneficio de la humanidad.</a:t>
            </a:r>
          </a:p>
          <a:p>
            <a:r>
              <a:rPr lang="es-CO" sz="1400" dirty="0"/>
              <a:t> La ciencia y la fe podían convivir juntas, manteniendo cada una su terreno (natural para la ciencia y espiritual para la fe) y complementarse.</a:t>
            </a:r>
          </a:p>
          <a:p>
            <a:endParaRPr lang="es-CO" dirty="0"/>
          </a:p>
        </p:txBody>
      </p:sp>
      <p:sp>
        <p:nvSpPr>
          <p:cNvPr id="4" name="CuadroTexto 3">
            <a:extLst>
              <a:ext uri="{FF2B5EF4-FFF2-40B4-BE49-F238E27FC236}">
                <a16:creationId xmlns:a16="http://schemas.microsoft.com/office/drawing/2014/main" id="{8653A9C3-7F4D-915E-BCC0-ECF0B0134F54}"/>
              </a:ext>
            </a:extLst>
          </p:cNvPr>
          <p:cNvSpPr txBox="1"/>
          <p:nvPr/>
        </p:nvSpPr>
        <p:spPr>
          <a:xfrm>
            <a:off x="5244764" y="383823"/>
            <a:ext cx="3048000" cy="369332"/>
          </a:xfrm>
          <a:prstGeom prst="rect">
            <a:avLst/>
          </a:prstGeom>
          <a:noFill/>
        </p:spPr>
        <p:txBody>
          <a:bodyPr wrap="square" rtlCol="0">
            <a:spAutoFit/>
          </a:bodyPr>
          <a:lstStyle/>
          <a:p>
            <a:r>
              <a:rPr lang="es-CO" dirty="0"/>
              <a:t>TOMÁS DE AQUINO</a:t>
            </a:r>
          </a:p>
        </p:txBody>
      </p:sp>
      <p:pic>
        <p:nvPicPr>
          <p:cNvPr id="6" name="Imagen 5" descr="Imagen que contiene interior, edificio, tabla, llenado&#10;&#10;El contenido generado por IA puede ser incorrecto.">
            <a:extLst>
              <a:ext uri="{FF2B5EF4-FFF2-40B4-BE49-F238E27FC236}">
                <a16:creationId xmlns:a16="http://schemas.microsoft.com/office/drawing/2014/main" id="{F1FF3EE0-315E-BADF-1BF0-C75AB25B50CF}"/>
              </a:ext>
            </a:extLst>
          </p:cNvPr>
          <p:cNvPicPr>
            <a:picLocks noChangeAspect="1"/>
          </p:cNvPicPr>
          <p:nvPr/>
        </p:nvPicPr>
        <p:blipFill>
          <a:blip r:embed="rId2"/>
          <a:stretch>
            <a:fillRect/>
          </a:stretch>
        </p:blipFill>
        <p:spPr>
          <a:xfrm>
            <a:off x="5901868" y="2951560"/>
            <a:ext cx="1733792" cy="2092881"/>
          </a:xfrm>
          <a:prstGeom prst="rect">
            <a:avLst/>
          </a:prstGeom>
        </p:spPr>
      </p:pic>
      <p:pic>
        <p:nvPicPr>
          <p:cNvPr id="8" name="Imagen 7" descr="Imagen que contiene sostener, hombre, vistiendo, parado&#10;&#10;El contenido generado por IA puede ser incorrecto.">
            <a:extLst>
              <a:ext uri="{FF2B5EF4-FFF2-40B4-BE49-F238E27FC236}">
                <a16:creationId xmlns:a16="http://schemas.microsoft.com/office/drawing/2014/main" id="{3D21374B-66C3-9EBB-40C5-4029831E97EE}"/>
              </a:ext>
            </a:extLst>
          </p:cNvPr>
          <p:cNvPicPr>
            <a:picLocks noChangeAspect="1"/>
          </p:cNvPicPr>
          <p:nvPr/>
        </p:nvPicPr>
        <p:blipFill>
          <a:blip r:embed="rId3"/>
          <a:stretch>
            <a:fillRect/>
          </a:stretch>
        </p:blipFill>
        <p:spPr>
          <a:xfrm>
            <a:off x="859837" y="2453279"/>
            <a:ext cx="3191352" cy="25911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Rectángulo 233"/>
          <p:cNvSpPr/>
          <p:nvPr/>
        </p:nvSpPr>
        <p:spPr>
          <a:xfrm>
            <a:off x="1660360" y="348721"/>
            <a:ext cx="582292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dirty="0">
                <a:solidFill>
                  <a:schemeClr val="dk1"/>
                </a:solidFill>
                <a:effectLst/>
                <a:uFillTx/>
                <a:latin typeface="DM Sans ExtraBold"/>
              </a:rPr>
              <a:t>¿PORQUE ES TAN IMPORTA?</a:t>
            </a:r>
            <a:endParaRPr lang="en-US" sz="3500" b="0" u="none" strike="noStrike" dirty="0">
              <a:solidFill>
                <a:srgbClr val="FFFFFF"/>
              </a:solidFill>
              <a:effectLst/>
              <a:uFillTx/>
              <a:latin typeface="OpenSymbol"/>
            </a:endParaRPr>
          </a:p>
        </p:txBody>
      </p:sp>
      <p:sp>
        <p:nvSpPr>
          <p:cNvPr id="235" name="Rectángulo 23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E42F695B-C334-4E2F-18BA-5713F4BF0B8A}"/>
              </a:ext>
            </a:extLst>
          </p:cNvPr>
          <p:cNvSpPr txBox="1"/>
          <p:nvPr/>
        </p:nvSpPr>
        <p:spPr>
          <a:xfrm>
            <a:off x="1185333" y="1300921"/>
            <a:ext cx="6953956" cy="3970318"/>
          </a:xfrm>
          <a:prstGeom prst="rect">
            <a:avLst/>
          </a:prstGeom>
          <a:noFill/>
        </p:spPr>
        <p:txBody>
          <a:bodyPr wrap="square" rtlCol="0">
            <a:spAutoFit/>
          </a:bodyPr>
          <a:lstStyle/>
          <a:p>
            <a:pPr algn="ctr"/>
            <a:r>
              <a:rPr lang="es-CO" dirty="0"/>
              <a:t>Desde la perspectiva en el siglo XXI, la importancia de estos dos personajes radica en que rompieron con el tabú de que "tocar la naturaleza es pecado". Al defender a los alquimistas (quienes buscaban crear vida artificial o curar todas las enfermedades), ellos proporcionaron un temprano </a:t>
            </a:r>
            <a:r>
              <a:rPr lang="es-CO" b="1" dirty="0"/>
              <a:t>respaldo moral y teológico</a:t>
            </a:r>
            <a:r>
              <a:rPr lang="es-CO" dirty="0"/>
              <a:t> a la idea de que el ser humano puede y debe interactuar con el mundo físico.</a:t>
            </a:r>
          </a:p>
          <a:p>
            <a:pPr algn="ctr"/>
            <a:r>
              <a:rPr lang="es-CO" dirty="0"/>
              <a:t>Mientras otros veían en la técnica un acto de soberbia o demoniaco, Alberto Magno y Tomás de Aquino vieron una extensión de las capacidades que Dios le </a:t>
            </a:r>
            <a:r>
              <a:rPr lang="es-CO" dirty="0" err="1"/>
              <a:t>dió</a:t>
            </a:r>
            <a:r>
              <a:rPr lang="es-CO" dirty="0"/>
              <a:t> al hombre para comprender y trabajar con la creación. Sin este "permiso" intelectual en la Edad Media, el camino hacia la ciencia moderna y el transhumanismo habría sido mucho más tortuoso.</a:t>
            </a:r>
          </a:p>
          <a:p>
            <a:pPr algn="ctr"/>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ectángulo 235"/>
          <p:cNvSpPr/>
          <p:nvPr/>
        </p:nvSpPr>
        <p:spPr>
          <a:xfrm>
            <a:off x="149046" y="1435280"/>
            <a:ext cx="6161587" cy="2585323"/>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algn="ctr"/>
            <a:r>
              <a:rPr lang="es-CO" dirty="0"/>
              <a:t>Él representa el paso de la mentalidad medieval a la visión renacentista, donde el ser humano deja de ser un espectador pasivo de la creación para convertirse en el arquitecto de su propio destino.</a:t>
            </a:r>
          </a:p>
          <a:p>
            <a:pPr algn="ctr"/>
            <a:r>
              <a:rPr lang="es-CO" dirty="0"/>
              <a:t>Pico </a:t>
            </a:r>
            <a:r>
              <a:rPr lang="es-CO" dirty="0" err="1"/>
              <a:t>della</a:t>
            </a:r>
            <a:r>
              <a:rPr lang="es-CO" dirty="0"/>
              <a:t> Mirandola es un pilar del </a:t>
            </a:r>
            <a:r>
              <a:rPr lang="es-CO" b="1" dirty="0"/>
              <a:t>Renacimiento</a:t>
            </a:r>
            <a:r>
              <a:rPr lang="es-CO" dirty="0"/>
              <a:t>, un periodo en el que el ser humano y el mundo natural volvieron a ser objetos legítimos de estudio, incentivando a las personas a confiar en su propio juicio en lugar de depender exclusivamente de las autoridades religiosas</a:t>
            </a:r>
            <a:endParaRPr lang="en-US" sz="5000" b="0" u="none" strike="noStrike" dirty="0">
              <a:solidFill>
                <a:srgbClr val="FFFFFF"/>
              </a:solidFill>
              <a:effectLst/>
              <a:uFillTx/>
              <a:latin typeface="OpenSymbol"/>
            </a:endParaRPr>
          </a:p>
        </p:txBody>
      </p:sp>
      <p:sp>
        <p:nvSpPr>
          <p:cNvPr id="237" name="Rectángulo 236"/>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endParaRPr lang="en-US" sz="4000" b="0" u="none" strike="noStrike" dirty="0">
              <a:solidFill>
                <a:srgbClr val="FFFFFF"/>
              </a:solidFill>
              <a:effectLst/>
              <a:uFillTx/>
              <a:latin typeface="OpenSymbol"/>
            </a:endParaRPr>
          </a:p>
        </p:txBody>
      </p:sp>
      <p:pic>
        <p:nvPicPr>
          <p:cNvPr id="3" name="Imagen 2" descr="Foto montaje de la cara de un hombre&#10;&#10;El contenido generado por IA puede ser incorrecto.">
            <a:extLst>
              <a:ext uri="{FF2B5EF4-FFF2-40B4-BE49-F238E27FC236}">
                <a16:creationId xmlns:a16="http://schemas.microsoft.com/office/drawing/2014/main" id="{9C7A6CEB-6100-C18E-7243-64F26D020B73}"/>
              </a:ext>
            </a:extLst>
          </p:cNvPr>
          <p:cNvPicPr>
            <a:picLocks noChangeAspect="1"/>
          </p:cNvPicPr>
          <p:nvPr/>
        </p:nvPicPr>
        <p:blipFill>
          <a:blip r:embed="rId2"/>
          <a:stretch>
            <a:fillRect/>
          </a:stretch>
        </p:blipFill>
        <p:spPr>
          <a:xfrm>
            <a:off x="6310633" y="1536963"/>
            <a:ext cx="2578067" cy="2381956"/>
          </a:xfrm>
          <a:prstGeom prst="rect">
            <a:avLst/>
          </a:prstGeom>
        </p:spPr>
      </p:pic>
      <p:sp>
        <p:nvSpPr>
          <p:cNvPr id="4" name="CuadroTexto 3">
            <a:extLst>
              <a:ext uri="{FF2B5EF4-FFF2-40B4-BE49-F238E27FC236}">
                <a16:creationId xmlns:a16="http://schemas.microsoft.com/office/drawing/2014/main" id="{6E08218A-3204-7112-476A-A1AB754B8357}"/>
              </a:ext>
            </a:extLst>
          </p:cNvPr>
          <p:cNvSpPr txBox="1"/>
          <p:nvPr/>
        </p:nvSpPr>
        <p:spPr>
          <a:xfrm>
            <a:off x="1039650" y="527369"/>
            <a:ext cx="4943461" cy="400110"/>
          </a:xfrm>
          <a:prstGeom prst="rect">
            <a:avLst/>
          </a:prstGeom>
          <a:noFill/>
        </p:spPr>
        <p:txBody>
          <a:bodyPr wrap="square" rtlCol="0">
            <a:spAutoFit/>
          </a:bodyPr>
          <a:lstStyle/>
          <a:p>
            <a:r>
              <a:rPr lang="es-CO" sz="2000" dirty="0"/>
              <a:t>GUIVANNI PICO DELLA MIRANDOLA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ángulo 238"/>
          <p:cNvSpPr/>
          <p:nvPr/>
        </p:nvSpPr>
        <p:spPr>
          <a:xfrm>
            <a:off x="149262" y="812801"/>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r>
              <a:rPr lang="es-CO" dirty="0"/>
              <a:t>La "Oración sobre la dignidad obra cumbre de 1486. La "Oración sobre la dignidad humana"</a:t>
            </a:r>
          </a:p>
          <a:p>
            <a:endParaRPr lang="es-CO" dirty="0"/>
          </a:p>
        </p:txBody>
      </p:sp>
      <p:sp>
        <p:nvSpPr>
          <p:cNvPr id="240" name="Rectángulo 239"/>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9335ECED-BD62-7D18-3B9E-5212B5559A08}"/>
              </a:ext>
            </a:extLst>
          </p:cNvPr>
          <p:cNvSpPr txBox="1"/>
          <p:nvPr/>
        </p:nvSpPr>
        <p:spPr>
          <a:xfrm>
            <a:off x="750043" y="2787850"/>
            <a:ext cx="3262489" cy="646331"/>
          </a:xfrm>
          <a:prstGeom prst="rect">
            <a:avLst/>
          </a:prstGeom>
          <a:noFill/>
        </p:spPr>
        <p:txBody>
          <a:bodyPr wrap="square" rtlCol="0">
            <a:spAutoFit/>
          </a:bodyPr>
          <a:lstStyle/>
          <a:p>
            <a:r>
              <a:rPr lang="es-CO" dirty="0"/>
              <a:t>El ser humano como "Moldeador"</a:t>
            </a:r>
          </a:p>
        </p:txBody>
      </p:sp>
      <p:sp>
        <p:nvSpPr>
          <p:cNvPr id="3" name="CuadroTexto 2">
            <a:extLst>
              <a:ext uri="{FF2B5EF4-FFF2-40B4-BE49-F238E27FC236}">
                <a16:creationId xmlns:a16="http://schemas.microsoft.com/office/drawing/2014/main" id="{93B88924-40C4-E24C-15A7-C0A86A699FB5}"/>
              </a:ext>
            </a:extLst>
          </p:cNvPr>
          <p:cNvSpPr txBox="1"/>
          <p:nvPr/>
        </p:nvSpPr>
        <p:spPr>
          <a:xfrm>
            <a:off x="4296413" y="2711265"/>
            <a:ext cx="4837648" cy="1754326"/>
          </a:xfrm>
          <a:prstGeom prst="rect">
            <a:avLst/>
          </a:prstGeom>
          <a:noFill/>
        </p:spPr>
        <p:txBody>
          <a:bodyPr wrap="square" rtlCol="0">
            <a:spAutoFit/>
          </a:bodyPr>
          <a:lstStyle/>
          <a:p>
            <a:r>
              <a:rPr lang="es-CO" dirty="0"/>
              <a:t>Pico pone en boca del Creador palabras que definen nuestra esencia como una libertad radical. Nos describe como el </a:t>
            </a:r>
            <a:r>
              <a:rPr lang="es-CO" b="1" dirty="0"/>
              <a:t>"libre y orgulloso moldeador de su propio ser"</a:t>
            </a:r>
            <a:r>
              <a:rPr lang="es-CO" dirty="0"/>
              <a:t>. Según esta visión:</a:t>
            </a:r>
          </a:p>
          <a:p>
            <a:endParaRPr lang="es-CO" dirty="0"/>
          </a:p>
        </p:txBody>
      </p:sp>
      <p:sp>
        <p:nvSpPr>
          <p:cNvPr id="4" name="CuadroTexto 3">
            <a:extLst>
              <a:ext uri="{FF2B5EF4-FFF2-40B4-BE49-F238E27FC236}">
                <a16:creationId xmlns:a16="http://schemas.microsoft.com/office/drawing/2014/main" id="{69620BBA-E1FA-7098-35FF-02CDAD3EE060}"/>
              </a:ext>
            </a:extLst>
          </p:cNvPr>
          <p:cNvSpPr txBox="1"/>
          <p:nvPr/>
        </p:nvSpPr>
        <p:spPr>
          <a:xfrm>
            <a:off x="4296413" y="311541"/>
            <a:ext cx="4698325" cy="2308324"/>
          </a:xfrm>
          <a:prstGeom prst="rect">
            <a:avLst/>
          </a:prstGeom>
          <a:noFill/>
        </p:spPr>
        <p:txBody>
          <a:bodyPr wrap="square" rtlCol="0">
            <a:spAutoFit/>
          </a:bodyPr>
          <a:lstStyle/>
          <a:p>
            <a:r>
              <a:rPr lang="es-CO" dirty="0"/>
              <a:t>Pico proclama una idea revolucionaria para su tiempo: que el ser humano </a:t>
            </a:r>
            <a:r>
              <a:rPr lang="es-CO" b="1" dirty="0"/>
              <a:t>no tiene una forma acabada</a:t>
            </a:r>
            <a:r>
              <a:rPr lang="es-CO" dirty="0"/>
              <a:t>. Mientras que los animales o los ángeles tienen una naturaleza fija y definida por Dios, el hombre es la única criatura que es responsable de dársela a sí mismo.</a:t>
            </a:r>
          </a:p>
          <a:p>
            <a:endParaRPr lang="es-CO" dirty="0"/>
          </a:p>
        </p:txBody>
      </p:sp>
      <p:sp>
        <p:nvSpPr>
          <p:cNvPr id="5" name="Flecha: a la derecha 4">
            <a:extLst>
              <a:ext uri="{FF2B5EF4-FFF2-40B4-BE49-F238E27FC236}">
                <a16:creationId xmlns:a16="http://schemas.microsoft.com/office/drawing/2014/main" id="{28D03FA1-59DE-4714-B104-FABFE5D6164D}"/>
              </a:ext>
            </a:extLst>
          </p:cNvPr>
          <p:cNvSpPr/>
          <p:nvPr/>
        </p:nvSpPr>
        <p:spPr>
          <a:xfrm>
            <a:off x="3728651" y="857956"/>
            <a:ext cx="567762" cy="4065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Flecha: a la derecha 5">
            <a:extLst>
              <a:ext uri="{FF2B5EF4-FFF2-40B4-BE49-F238E27FC236}">
                <a16:creationId xmlns:a16="http://schemas.microsoft.com/office/drawing/2014/main" id="{BBFC23C0-19DF-2C9D-1AA6-56D7D1C70848}"/>
              </a:ext>
            </a:extLst>
          </p:cNvPr>
          <p:cNvSpPr/>
          <p:nvPr/>
        </p:nvSpPr>
        <p:spPr>
          <a:xfrm>
            <a:off x="3718533" y="2879518"/>
            <a:ext cx="567762" cy="4065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CuadroTexto 6">
            <a:extLst>
              <a:ext uri="{FF2B5EF4-FFF2-40B4-BE49-F238E27FC236}">
                <a16:creationId xmlns:a16="http://schemas.microsoft.com/office/drawing/2014/main" id="{83A3B689-653C-9438-0C2B-FE32AAB2171E}"/>
              </a:ext>
            </a:extLst>
          </p:cNvPr>
          <p:cNvSpPr txBox="1"/>
          <p:nvPr/>
        </p:nvSpPr>
        <p:spPr>
          <a:xfrm>
            <a:off x="2910027" y="4299992"/>
            <a:ext cx="3017939" cy="1200329"/>
          </a:xfrm>
          <a:prstGeom prst="rect">
            <a:avLst/>
          </a:prstGeom>
          <a:noFill/>
        </p:spPr>
        <p:txBody>
          <a:bodyPr wrap="square" rtlCol="0">
            <a:spAutoFit/>
          </a:bodyPr>
          <a:lstStyle/>
          <a:p>
            <a:pPr lvl="0"/>
            <a:r>
              <a:rPr lang="es-CO" dirty="0"/>
              <a:t>No somos ni puramente mortales ni inmortales por nacimiento.</a:t>
            </a:r>
          </a:p>
          <a:p>
            <a:endParaRPr lang="es-CO" dirty="0"/>
          </a:p>
        </p:txBody>
      </p:sp>
      <p:sp>
        <p:nvSpPr>
          <p:cNvPr id="8" name="CuadroTexto 7">
            <a:extLst>
              <a:ext uri="{FF2B5EF4-FFF2-40B4-BE49-F238E27FC236}">
                <a16:creationId xmlns:a16="http://schemas.microsoft.com/office/drawing/2014/main" id="{7179E5AD-555F-ECC0-0A0A-8DB2EDDF4531}"/>
              </a:ext>
            </a:extLst>
          </p:cNvPr>
          <p:cNvSpPr txBox="1"/>
          <p:nvPr/>
        </p:nvSpPr>
        <p:spPr>
          <a:xfrm>
            <a:off x="6006435" y="4231794"/>
            <a:ext cx="3375378" cy="1200329"/>
          </a:xfrm>
          <a:prstGeom prst="rect">
            <a:avLst/>
          </a:prstGeom>
          <a:noFill/>
        </p:spPr>
        <p:txBody>
          <a:bodyPr wrap="square" rtlCol="0">
            <a:spAutoFit/>
          </a:bodyPr>
          <a:lstStyle/>
          <a:p>
            <a:r>
              <a:rPr lang="es-CO" dirty="0"/>
              <a:t>Se nos ha dado el poder de darnos a nosotros mismos la forma que prefiramos.</a:t>
            </a:r>
          </a:p>
          <a:p>
            <a:endParaRPr lang="es-CO" dirty="0"/>
          </a:p>
        </p:txBody>
      </p:sp>
      <p:sp>
        <p:nvSpPr>
          <p:cNvPr id="9" name="CuadroTexto 8">
            <a:extLst>
              <a:ext uri="{FF2B5EF4-FFF2-40B4-BE49-F238E27FC236}">
                <a16:creationId xmlns:a16="http://schemas.microsoft.com/office/drawing/2014/main" id="{3250060A-88B5-77A2-465F-6F0916B5D067}"/>
              </a:ext>
            </a:extLst>
          </p:cNvPr>
          <p:cNvSpPr txBox="1"/>
          <p:nvPr/>
        </p:nvSpPr>
        <p:spPr>
          <a:xfrm>
            <a:off x="243022" y="4313973"/>
            <a:ext cx="2453558" cy="646331"/>
          </a:xfrm>
          <a:prstGeom prst="rect">
            <a:avLst/>
          </a:prstGeom>
          <a:noFill/>
        </p:spPr>
        <p:txBody>
          <a:bodyPr wrap="square" rtlCol="0">
            <a:spAutoFit/>
          </a:bodyPr>
          <a:lstStyle/>
          <a:p>
            <a:pPr lvl="0"/>
            <a:r>
              <a:rPr lang="es-CO" dirty="0"/>
              <a:t>No somos ni del cielo ni de la tierra.</a:t>
            </a:r>
          </a:p>
        </p:txBody>
      </p:sp>
      <p:sp>
        <p:nvSpPr>
          <p:cNvPr id="10" name="Estrella: 4 puntas 9">
            <a:extLst>
              <a:ext uri="{FF2B5EF4-FFF2-40B4-BE49-F238E27FC236}">
                <a16:creationId xmlns:a16="http://schemas.microsoft.com/office/drawing/2014/main" id="{35DCE1EF-5F79-E54F-7AF3-43B85F051346}"/>
              </a:ext>
            </a:extLst>
          </p:cNvPr>
          <p:cNvSpPr/>
          <p:nvPr/>
        </p:nvSpPr>
        <p:spPr>
          <a:xfrm>
            <a:off x="59994" y="4310786"/>
            <a:ext cx="234560" cy="309609"/>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2" name="Conector recto 11">
            <a:extLst>
              <a:ext uri="{FF2B5EF4-FFF2-40B4-BE49-F238E27FC236}">
                <a16:creationId xmlns:a16="http://schemas.microsoft.com/office/drawing/2014/main" id="{4ECE0BFD-A8EF-C16B-8F29-A8688B7EF7C6}"/>
              </a:ext>
            </a:extLst>
          </p:cNvPr>
          <p:cNvCxnSpPr>
            <a:cxnSpLocks/>
          </p:cNvCxnSpPr>
          <p:nvPr/>
        </p:nvCxnSpPr>
        <p:spPr>
          <a:xfrm flipH="1">
            <a:off x="2675467" y="4052711"/>
            <a:ext cx="60592" cy="1090789"/>
          </a:xfrm>
          <a:prstGeom prst="line">
            <a:avLst/>
          </a:prstGeom>
        </p:spPr>
        <p:style>
          <a:lnRef idx="1">
            <a:schemeClr val="accent1"/>
          </a:lnRef>
          <a:fillRef idx="0">
            <a:schemeClr val="accent1"/>
          </a:fillRef>
          <a:effectRef idx="0">
            <a:schemeClr val="accent1"/>
          </a:effectRef>
          <a:fontRef idx="minor">
            <a:schemeClr val="tx1"/>
          </a:fontRef>
        </p:style>
      </p:cxnSp>
      <p:sp>
        <p:nvSpPr>
          <p:cNvPr id="15" name="Estrella: 4 puntas 14">
            <a:extLst>
              <a:ext uri="{FF2B5EF4-FFF2-40B4-BE49-F238E27FC236}">
                <a16:creationId xmlns:a16="http://schemas.microsoft.com/office/drawing/2014/main" id="{E299A2A3-083B-5A69-BDA8-E3BC13739FA1}"/>
              </a:ext>
            </a:extLst>
          </p:cNvPr>
          <p:cNvSpPr/>
          <p:nvPr/>
        </p:nvSpPr>
        <p:spPr>
          <a:xfrm>
            <a:off x="2584270" y="4280734"/>
            <a:ext cx="234560" cy="309609"/>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Estrella: 4 puntas 15">
            <a:extLst>
              <a:ext uri="{FF2B5EF4-FFF2-40B4-BE49-F238E27FC236}">
                <a16:creationId xmlns:a16="http://schemas.microsoft.com/office/drawing/2014/main" id="{8C9A6D00-6F62-03B8-D7DF-F1EA6DFB7A12}"/>
              </a:ext>
            </a:extLst>
          </p:cNvPr>
          <p:cNvSpPr/>
          <p:nvPr/>
        </p:nvSpPr>
        <p:spPr>
          <a:xfrm>
            <a:off x="5763382" y="4310785"/>
            <a:ext cx="234560" cy="309609"/>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Rectángulo 241"/>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r>
              <a:rPr lang="es-CO" dirty="0"/>
              <a:t>1. El Nacimiento del "Nuevo Instrumento" (1620) METODO CIENTIFICO1.11</a:t>
            </a:r>
          </a:p>
        </p:txBody>
      </p:sp>
      <p:sp>
        <p:nvSpPr>
          <p:cNvPr id="243" name="Rectángulo 242"/>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077B6402-2F8A-5498-D807-1896D6CBE0CC}"/>
              </a:ext>
            </a:extLst>
          </p:cNvPr>
          <p:cNvSpPr txBox="1"/>
          <p:nvPr/>
        </p:nvSpPr>
        <p:spPr>
          <a:xfrm>
            <a:off x="846666" y="1057760"/>
            <a:ext cx="7134578" cy="1477328"/>
          </a:xfrm>
          <a:prstGeom prst="rect">
            <a:avLst/>
          </a:prstGeom>
          <a:noFill/>
        </p:spPr>
        <p:txBody>
          <a:bodyPr wrap="square" rtlCol="0">
            <a:spAutoFit/>
          </a:bodyPr>
          <a:lstStyle/>
          <a:p>
            <a:pPr algn="ctr"/>
            <a:r>
              <a:rPr lang="es-CO" dirty="0"/>
              <a:t>Se dice a menudo que la época ilustrada se inicia formalmente con la publicación de una obra revolucionaria: el </a:t>
            </a:r>
            <a:r>
              <a:rPr lang="es-CO" b="1" i="1" dirty="0" err="1"/>
              <a:t>Novum</a:t>
            </a:r>
            <a:r>
              <a:rPr lang="es-CO" b="1" i="1" dirty="0"/>
              <a:t> </a:t>
            </a:r>
            <a:r>
              <a:rPr lang="es-CO" b="1" i="1" dirty="0" err="1"/>
              <a:t>Organum</a:t>
            </a:r>
            <a:r>
              <a:rPr lang="es-CO" dirty="0"/>
              <a:t> o "El nuevo instrumento", publicado en </a:t>
            </a:r>
            <a:r>
              <a:rPr lang="es-CO" b="1" dirty="0"/>
              <a:t>1620</a:t>
            </a:r>
            <a:r>
              <a:rPr lang="es-CO" dirty="0"/>
              <a:t>. En este texto, Bacon no solo propone un libro, sino un cambio total en la mentalidad de la especie humana.</a:t>
            </a:r>
          </a:p>
        </p:txBody>
      </p:sp>
      <p:sp>
        <p:nvSpPr>
          <p:cNvPr id="3" name="CuadroTexto 2">
            <a:extLst>
              <a:ext uri="{FF2B5EF4-FFF2-40B4-BE49-F238E27FC236}">
                <a16:creationId xmlns:a16="http://schemas.microsoft.com/office/drawing/2014/main" id="{2333B9BA-7B93-3E2E-CA7B-87E3AF8F9DA9}"/>
              </a:ext>
            </a:extLst>
          </p:cNvPr>
          <p:cNvSpPr txBox="1"/>
          <p:nvPr/>
        </p:nvSpPr>
        <p:spPr>
          <a:xfrm>
            <a:off x="476280" y="2725224"/>
            <a:ext cx="7224889" cy="646331"/>
          </a:xfrm>
          <a:prstGeom prst="rect">
            <a:avLst/>
          </a:prstGeom>
          <a:noFill/>
        </p:spPr>
        <p:txBody>
          <a:bodyPr wrap="square" rtlCol="0">
            <a:spAutoFit/>
          </a:bodyPr>
          <a:lstStyle/>
          <a:p>
            <a:r>
              <a:rPr lang="es-CO" dirty="0"/>
              <a:t>2. El Proyecto de "Efectuar todas las cosas posibles"</a:t>
            </a:r>
            <a:endParaRPr lang="en-US" sz="3500" dirty="0">
              <a:solidFill>
                <a:srgbClr val="FFFFFF"/>
              </a:solidFill>
              <a:latin typeface="OpenSymbol"/>
            </a:endParaRPr>
          </a:p>
          <a:p>
            <a:endParaRPr lang="es-CO" dirty="0"/>
          </a:p>
        </p:txBody>
      </p:sp>
      <p:sp>
        <p:nvSpPr>
          <p:cNvPr id="4" name="CuadroTexto 3">
            <a:extLst>
              <a:ext uri="{FF2B5EF4-FFF2-40B4-BE49-F238E27FC236}">
                <a16:creationId xmlns:a16="http://schemas.microsoft.com/office/drawing/2014/main" id="{3261B28A-B631-99D2-F27E-95446A21070D}"/>
              </a:ext>
            </a:extLst>
          </p:cNvPr>
          <p:cNvSpPr txBox="1"/>
          <p:nvPr/>
        </p:nvSpPr>
        <p:spPr>
          <a:xfrm>
            <a:off x="846666" y="3286080"/>
            <a:ext cx="8297334" cy="2308324"/>
          </a:xfrm>
          <a:prstGeom prst="rect">
            <a:avLst/>
          </a:prstGeom>
          <a:noFill/>
        </p:spPr>
        <p:txBody>
          <a:bodyPr wrap="square" rtlCol="0">
            <a:spAutoFit/>
          </a:bodyPr>
          <a:lstStyle/>
          <a:p>
            <a:pPr algn="ctr"/>
            <a:r>
              <a:rPr lang="es-CO" dirty="0"/>
              <a:t>Bacon no veía la ciencia como un simple ejercicio intelectual. Para él, el conocimiento era poder. Defendió fervientemente el proyecto de </a:t>
            </a:r>
            <a:r>
              <a:rPr lang="es-CO" b="1" dirty="0"/>
              <a:t>"efectuar todas las cosas posibles"</a:t>
            </a:r>
            <a:r>
              <a:rPr lang="es-CO" dirty="0"/>
              <a:t>. ¿A qué se refería  con esto? A utilizar la ciencia para lograr un </a:t>
            </a:r>
            <a:r>
              <a:rPr lang="es-CO" b="1" dirty="0"/>
              <a:t>dominio efectivo sobre la naturaleza</a:t>
            </a:r>
            <a:r>
              <a:rPr lang="es-CO" dirty="0"/>
              <a:t>.</a:t>
            </a:r>
          </a:p>
          <a:p>
            <a:pPr algn="ctr"/>
            <a:r>
              <a:rPr lang="es-CO" dirty="0"/>
              <a:t>  A cualquier fenómeno natural se debía aplicar el método científico para conocerlo y entenderlo. Ejemplo: analizar la lluvia</a:t>
            </a:r>
          </a:p>
          <a:p>
            <a:r>
              <a:rPr lang="es-CO" dirty="0"/>
              <a:t> </a:t>
            </a:r>
          </a:p>
          <a:p>
            <a:endParaRPr lang="es-CO"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Rectángulo 24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endParaRPr lang="en-US" sz="3500" b="0" u="none" strike="noStrike" dirty="0">
              <a:solidFill>
                <a:srgbClr val="FFFFFF"/>
              </a:solidFill>
              <a:effectLst/>
              <a:uFillTx/>
              <a:latin typeface="OpenSymbol"/>
            </a:endParaRPr>
          </a:p>
        </p:txBody>
      </p:sp>
      <p:sp>
        <p:nvSpPr>
          <p:cNvPr id="245" name="Rectángulo 24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5029811F-8CD6-3F36-CDEA-CA857BB8847E}"/>
              </a:ext>
            </a:extLst>
          </p:cNvPr>
          <p:cNvSpPr txBox="1"/>
          <p:nvPr/>
        </p:nvSpPr>
        <p:spPr>
          <a:xfrm>
            <a:off x="1915064" y="898459"/>
            <a:ext cx="5624423" cy="523220"/>
          </a:xfrm>
          <a:prstGeom prst="rect">
            <a:avLst/>
          </a:prstGeom>
          <a:noFill/>
        </p:spPr>
        <p:txBody>
          <a:bodyPr wrap="square" rtlCol="0">
            <a:spAutoFit/>
          </a:bodyPr>
          <a:lstStyle/>
          <a:p>
            <a:r>
              <a:rPr lang="es-CO" sz="2800" dirty="0"/>
              <a:t> Características del  Racional</a:t>
            </a:r>
          </a:p>
        </p:txBody>
      </p:sp>
      <p:sp>
        <p:nvSpPr>
          <p:cNvPr id="3" name="CuadroTexto 2">
            <a:extLst>
              <a:ext uri="{FF2B5EF4-FFF2-40B4-BE49-F238E27FC236}">
                <a16:creationId xmlns:a16="http://schemas.microsoft.com/office/drawing/2014/main" id="{544ECCB4-7A6D-D089-FA98-54413549FC40}"/>
              </a:ext>
            </a:extLst>
          </p:cNvPr>
          <p:cNvSpPr txBox="1"/>
          <p:nvPr/>
        </p:nvSpPr>
        <p:spPr>
          <a:xfrm>
            <a:off x="638355" y="1690777"/>
            <a:ext cx="6728603" cy="1754326"/>
          </a:xfrm>
          <a:prstGeom prst="rect">
            <a:avLst/>
          </a:prstGeom>
          <a:noFill/>
        </p:spPr>
        <p:txBody>
          <a:bodyPr wrap="square" rtlCol="0">
            <a:spAutoFit/>
          </a:bodyPr>
          <a:lstStyle/>
          <a:p>
            <a:pPr lvl="0"/>
            <a:r>
              <a:rPr lang="es-CO" dirty="0"/>
              <a:t>Priorizar la </a:t>
            </a:r>
            <a:r>
              <a:rPr lang="es-CO" b="1" dirty="0"/>
              <a:t>ciencia empírica</a:t>
            </a:r>
            <a:r>
              <a:rPr lang="es-CO" dirty="0"/>
              <a:t> y la </a:t>
            </a:r>
            <a:r>
              <a:rPr lang="es-CO" b="1" dirty="0"/>
              <a:t>razón crítica</a:t>
            </a:r>
            <a:r>
              <a:rPr lang="es-CO" dirty="0"/>
              <a:t> por encima de la revelación divina o la autoridad religiosa.</a:t>
            </a:r>
          </a:p>
          <a:p>
            <a:pPr lvl="0"/>
            <a:endParaRPr lang="es-CO" dirty="0"/>
          </a:p>
          <a:p>
            <a:pPr lvl="0"/>
            <a:r>
              <a:rPr lang="es-CO" dirty="0"/>
              <a:t>Buscar en la razón el fundamento para entender nuestro lugar en el mundo y para construir nuestra propia moralidad.</a:t>
            </a:r>
          </a:p>
          <a:p>
            <a:endParaRPr lang="es-CO" dirty="0"/>
          </a:p>
        </p:txBody>
      </p:sp>
      <p:sp>
        <p:nvSpPr>
          <p:cNvPr id="4" name="Globo: flecha cuádruple 3">
            <a:extLst>
              <a:ext uri="{FF2B5EF4-FFF2-40B4-BE49-F238E27FC236}">
                <a16:creationId xmlns:a16="http://schemas.microsoft.com/office/drawing/2014/main" id="{3B265B93-286A-BFAC-0641-18B405CF527B}"/>
              </a:ext>
            </a:extLst>
          </p:cNvPr>
          <p:cNvSpPr/>
          <p:nvPr/>
        </p:nvSpPr>
        <p:spPr>
          <a:xfrm>
            <a:off x="207034" y="1690777"/>
            <a:ext cx="269246" cy="379563"/>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Globo: flecha cuádruple 4">
            <a:extLst>
              <a:ext uri="{FF2B5EF4-FFF2-40B4-BE49-F238E27FC236}">
                <a16:creationId xmlns:a16="http://schemas.microsoft.com/office/drawing/2014/main" id="{71B9843F-3842-BB32-1D05-25293ECDD6D9}"/>
              </a:ext>
            </a:extLst>
          </p:cNvPr>
          <p:cNvSpPr/>
          <p:nvPr/>
        </p:nvSpPr>
        <p:spPr>
          <a:xfrm>
            <a:off x="207034" y="2671943"/>
            <a:ext cx="269246" cy="379563"/>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FBA7D16-F572-3B51-0BD0-EAC6EAD804DB}"/>
              </a:ext>
            </a:extLst>
          </p:cNvPr>
          <p:cNvSpPr txBox="1"/>
          <p:nvPr/>
        </p:nvSpPr>
        <p:spPr>
          <a:xfrm>
            <a:off x="2242654" y="550794"/>
            <a:ext cx="5663241" cy="461665"/>
          </a:xfrm>
          <a:prstGeom prst="rect">
            <a:avLst/>
          </a:prstGeom>
          <a:noFill/>
        </p:spPr>
        <p:txBody>
          <a:bodyPr wrap="square">
            <a:spAutoFit/>
          </a:bodyPr>
          <a:lstStyle/>
          <a:p>
            <a:r>
              <a:rPr lang="es-CO" sz="2400" b="1" dirty="0">
                <a:effectLst/>
                <a:latin typeface="Calibri" panose="020F0502020204030204" pitchFamily="34" charset="0"/>
                <a:ea typeface="Calibri" panose="020F0502020204030204" pitchFamily="34" charset="0"/>
                <a:cs typeface="Times New Roman" panose="02020603050405020304" pitchFamily="18" charset="0"/>
              </a:rPr>
              <a:t>El Vínculo con el Transhumanismo</a:t>
            </a:r>
            <a:endParaRPr lang="es-CO" sz="2400" b="1" dirty="0"/>
          </a:p>
        </p:txBody>
      </p:sp>
      <p:sp>
        <p:nvSpPr>
          <p:cNvPr id="4" name="CuadroTexto 3">
            <a:extLst>
              <a:ext uri="{FF2B5EF4-FFF2-40B4-BE49-F238E27FC236}">
                <a16:creationId xmlns:a16="http://schemas.microsoft.com/office/drawing/2014/main" id="{7960E3C9-F069-C63E-3FCA-3BDB780396A0}"/>
              </a:ext>
            </a:extLst>
          </p:cNvPr>
          <p:cNvSpPr txBox="1"/>
          <p:nvPr/>
        </p:nvSpPr>
        <p:spPr>
          <a:xfrm>
            <a:off x="1639016" y="1264676"/>
            <a:ext cx="5663241" cy="923330"/>
          </a:xfrm>
          <a:prstGeom prst="rect">
            <a:avLst/>
          </a:prstGeom>
          <a:noFill/>
        </p:spPr>
        <p:txBody>
          <a:bodyPr wrap="square">
            <a:spAutoFit/>
          </a:bodyPr>
          <a:lstStyle/>
          <a:p>
            <a:pPr algn="ctr"/>
            <a:r>
              <a:rPr lang="es-CO" b="1" dirty="0"/>
              <a:t>El transhumanismo hunde sus raíces precisamente en este humanismo racionalista</a:t>
            </a:r>
            <a:r>
              <a:rPr lang="es-CO" dirty="0"/>
              <a:t>.</a:t>
            </a:r>
          </a:p>
          <a:p>
            <a:endParaRPr lang="es-CO" dirty="0"/>
          </a:p>
        </p:txBody>
      </p:sp>
      <p:sp>
        <p:nvSpPr>
          <p:cNvPr id="5" name="CuadroTexto 4">
            <a:extLst>
              <a:ext uri="{FF2B5EF4-FFF2-40B4-BE49-F238E27FC236}">
                <a16:creationId xmlns:a16="http://schemas.microsoft.com/office/drawing/2014/main" id="{F4BFEAFA-1A07-04C5-839C-B0CA316F70F1}"/>
              </a:ext>
            </a:extLst>
          </p:cNvPr>
          <p:cNvSpPr txBox="1"/>
          <p:nvPr/>
        </p:nvSpPr>
        <p:spPr>
          <a:xfrm>
            <a:off x="1639017" y="2007383"/>
            <a:ext cx="5663241" cy="2585323"/>
          </a:xfrm>
          <a:prstGeom prst="rect">
            <a:avLst/>
          </a:prstGeom>
          <a:noFill/>
        </p:spPr>
        <p:txBody>
          <a:bodyPr wrap="square">
            <a:spAutoFit/>
          </a:bodyPr>
          <a:lstStyle/>
          <a:p>
            <a:pPr algn="ctr"/>
            <a:r>
              <a:rPr lang="es-CO" dirty="0"/>
              <a:t>La idea baconiana de que la ciencia es el instrumento para superar las limitaciones que la naturaleza nos ha impuesto es el motor que hoy impulsa la biotecnología, la medicina genómica y la inteligencia artificial. Bacon nos enseñó que si la naturaleza nos da una limitación (como la enfermedad o la fragilidad física), la razón humana tiene el deber de buscar el "instrumento" para superarla.</a:t>
            </a:r>
          </a:p>
          <a:p>
            <a:pPr algn="ctr"/>
            <a:endParaRPr lang="es-CO"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1329089" y="293297"/>
            <a:ext cx="6485821" cy="812785"/>
          </a:xfrm>
          <a:prstGeom prst="rect">
            <a:avLst/>
          </a:prstGeom>
          <a:noFill/>
          <a:ln w="0">
            <a:noFill/>
          </a:ln>
        </p:spPr>
        <p:txBody>
          <a:bodyPr lIns="91440" tIns="91440" rIns="91440" bIns="91440" anchor="b">
            <a:normAutofit fontScale="90000"/>
          </a:bodyPr>
          <a:lstStyle/>
          <a:p>
            <a:pPr>
              <a:lnSpc>
                <a:spcPct val="100000"/>
              </a:lnSpc>
              <a:tabLst>
                <a:tab pos="0" algn="l"/>
              </a:tabLst>
            </a:pPr>
            <a:r>
              <a:rPr lang="es-CO" b="1" dirty="0"/>
              <a:t>Marqués de Condorcet</a:t>
            </a:r>
            <a:endParaRPr lang="fr-FR" sz="3500" b="0" u="none" strike="noStrike" dirty="0">
              <a:solidFill>
                <a:schemeClr val="dk1"/>
              </a:solidFill>
              <a:effectLst/>
              <a:uFillTx/>
              <a:latin typeface="Arial"/>
            </a:endParaRPr>
          </a:p>
        </p:txBody>
      </p:sp>
      <p:sp>
        <p:nvSpPr>
          <p:cNvPr id="2" name="CuadroTexto 1">
            <a:extLst>
              <a:ext uri="{FF2B5EF4-FFF2-40B4-BE49-F238E27FC236}">
                <a16:creationId xmlns:a16="http://schemas.microsoft.com/office/drawing/2014/main" id="{92443F9F-B568-B37C-B3CD-43A96005CD64}"/>
              </a:ext>
            </a:extLst>
          </p:cNvPr>
          <p:cNvSpPr txBox="1"/>
          <p:nvPr/>
        </p:nvSpPr>
        <p:spPr>
          <a:xfrm>
            <a:off x="1121434" y="1173182"/>
            <a:ext cx="7315200" cy="3970318"/>
          </a:xfrm>
          <a:prstGeom prst="rect">
            <a:avLst/>
          </a:prstGeom>
          <a:noFill/>
        </p:spPr>
        <p:txBody>
          <a:bodyPr wrap="square" rtlCol="0">
            <a:spAutoFit/>
          </a:bodyPr>
          <a:lstStyle/>
          <a:p>
            <a:pPr lvl="0"/>
            <a:r>
              <a:rPr lang="es-CO" b="1" dirty="0"/>
              <a:t>La medicina como motor de evolución:</a:t>
            </a:r>
            <a:r>
              <a:rPr lang="es-CO" dirty="0"/>
              <a:t> Condorcet especuló que la mejora de la raza humana a través de la ciencia médica no tenía límites. Para él, la medicina no debía conformarse con curar enfermedades, sino con perfeccionar el organismo.</a:t>
            </a:r>
          </a:p>
          <a:p>
            <a:pPr lvl="0"/>
            <a:r>
              <a:rPr lang="es-CO" b="1" dirty="0"/>
              <a:t>La superación del límite biológico:</a:t>
            </a:r>
            <a:r>
              <a:rPr lang="es-CO" dirty="0"/>
              <a:t> Se planteó una pregunta que resuena con fuerza en los debates actuales: ¿llegará un tiempo en el que la muerte solo sea el resultado de accidentes extraordinarios o del desgaste gradual de la vitalidad?</a:t>
            </a:r>
          </a:p>
          <a:p>
            <a:pPr lvl="0"/>
            <a:r>
              <a:rPr lang="es-CO" b="1" dirty="0"/>
              <a:t>La esperanza de vida sin fin:</a:t>
            </a:r>
            <a:r>
              <a:rPr lang="es-CO" dirty="0"/>
              <a:t> Condorcet sugirió que llegaría un punto en el que el intervalo entre el nacimiento y la decadencia natural no tuviera un </a:t>
            </a:r>
            <a:r>
              <a:rPr lang="es-CO" b="1" dirty="0"/>
              <a:t>límite específico alguno</a:t>
            </a:r>
            <a:r>
              <a:rPr lang="es-CO" dirty="0"/>
              <a:t>. Aunque no llegó a prometer la inmortalidad absoluta, sí propuso que el lapso de vida saludable podría incrementarse constantemente de forma infinita.</a:t>
            </a:r>
          </a:p>
          <a:p>
            <a:endParaRPr lang="es-CO" dirty="0"/>
          </a:p>
        </p:txBody>
      </p:sp>
      <p:sp>
        <p:nvSpPr>
          <p:cNvPr id="3" name="Globo: flecha cuádruple 2">
            <a:extLst>
              <a:ext uri="{FF2B5EF4-FFF2-40B4-BE49-F238E27FC236}">
                <a16:creationId xmlns:a16="http://schemas.microsoft.com/office/drawing/2014/main" id="{07617C5C-1F66-65F5-041D-8C3B4AA148DC}"/>
              </a:ext>
            </a:extLst>
          </p:cNvPr>
          <p:cNvSpPr/>
          <p:nvPr/>
        </p:nvSpPr>
        <p:spPr>
          <a:xfrm>
            <a:off x="690113" y="1173182"/>
            <a:ext cx="258793" cy="276056"/>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Globo: flecha cuádruple 3">
            <a:extLst>
              <a:ext uri="{FF2B5EF4-FFF2-40B4-BE49-F238E27FC236}">
                <a16:creationId xmlns:a16="http://schemas.microsoft.com/office/drawing/2014/main" id="{4C4882D4-2F21-9C82-FE4B-63679C13D5DF}"/>
              </a:ext>
            </a:extLst>
          </p:cNvPr>
          <p:cNvSpPr/>
          <p:nvPr/>
        </p:nvSpPr>
        <p:spPr>
          <a:xfrm>
            <a:off x="707366" y="3418207"/>
            <a:ext cx="258793" cy="276056"/>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Globo: flecha cuádruple 4">
            <a:extLst>
              <a:ext uri="{FF2B5EF4-FFF2-40B4-BE49-F238E27FC236}">
                <a16:creationId xmlns:a16="http://schemas.microsoft.com/office/drawing/2014/main" id="{5819F41D-C8DB-FEC2-E0C1-55288D950357}"/>
              </a:ext>
            </a:extLst>
          </p:cNvPr>
          <p:cNvSpPr/>
          <p:nvPr/>
        </p:nvSpPr>
        <p:spPr>
          <a:xfrm>
            <a:off x="707366" y="2331278"/>
            <a:ext cx="258793" cy="276056"/>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Rectángulo 251"/>
          <p:cNvSpPr/>
          <p:nvPr/>
        </p:nvSpPr>
        <p:spPr>
          <a:xfrm>
            <a:off x="2477608" y="476460"/>
            <a:ext cx="4561546"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dirty="0">
                <a:solidFill>
                  <a:schemeClr val="dk1"/>
                </a:solidFill>
                <a:effectLst/>
                <a:uFillTx/>
                <a:latin typeface="DM Sans ExtraBold"/>
              </a:rPr>
              <a:t>BENJAMIN FRANKLIN</a:t>
            </a:r>
            <a:endParaRPr lang="en-US" sz="3500" b="0" u="none" strike="noStrike" dirty="0">
              <a:solidFill>
                <a:srgbClr val="FFFFFF"/>
              </a:solidFill>
              <a:effectLst/>
              <a:uFillTx/>
              <a:latin typeface="OpenSymbol"/>
            </a:endParaRPr>
          </a:p>
        </p:txBody>
      </p:sp>
      <p:sp>
        <p:nvSpPr>
          <p:cNvPr id="253" name="Rectángulo 252"/>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endParaRPr lang="fr-FR" sz="1800" b="0" u="none" strike="noStrike" dirty="0">
              <a:solidFill>
                <a:schemeClr val="dk1"/>
              </a:solidFill>
              <a:effectLst/>
              <a:uFillTx/>
              <a:latin typeface="Arial"/>
            </a:endParaRPr>
          </a:p>
        </p:txBody>
      </p:sp>
      <p:sp>
        <p:nvSpPr>
          <p:cNvPr id="2" name="CuadroTexto 1">
            <a:extLst>
              <a:ext uri="{FF2B5EF4-FFF2-40B4-BE49-F238E27FC236}">
                <a16:creationId xmlns:a16="http://schemas.microsoft.com/office/drawing/2014/main" id="{824E25F8-CB9A-01F5-39AA-1CD1D49F8370}"/>
              </a:ext>
            </a:extLst>
          </p:cNvPr>
          <p:cNvSpPr txBox="1"/>
          <p:nvPr/>
        </p:nvSpPr>
        <p:spPr>
          <a:xfrm>
            <a:off x="476280" y="1370379"/>
            <a:ext cx="5268912" cy="646331"/>
          </a:xfrm>
          <a:prstGeom prst="rect">
            <a:avLst/>
          </a:prstGeom>
          <a:noFill/>
        </p:spPr>
        <p:txBody>
          <a:bodyPr wrap="square" rtlCol="0">
            <a:spAutoFit/>
          </a:bodyPr>
          <a:lstStyle/>
          <a:p>
            <a:pPr algn="ctr"/>
            <a:r>
              <a:rPr lang="es-CO" dirty="0"/>
              <a:t>Llevaba este deseo un paso más allá hacia lo que hoy conocemos como criogenia</a:t>
            </a:r>
          </a:p>
        </p:txBody>
      </p:sp>
      <p:sp>
        <p:nvSpPr>
          <p:cNvPr id="3" name="CuadroTexto 2">
            <a:extLst>
              <a:ext uri="{FF2B5EF4-FFF2-40B4-BE49-F238E27FC236}">
                <a16:creationId xmlns:a16="http://schemas.microsoft.com/office/drawing/2014/main" id="{07B09862-9375-90FB-985F-B96909A4787F}"/>
              </a:ext>
            </a:extLst>
          </p:cNvPr>
          <p:cNvSpPr txBox="1"/>
          <p:nvPr/>
        </p:nvSpPr>
        <p:spPr>
          <a:xfrm>
            <a:off x="476280" y="2249628"/>
            <a:ext cx="5268912" cy="1754326"/>
          </a:xfrm>
          <a:prstGeom prst="rect">
            <a:avLst/>
          </a:prstGeom>
          <a:noFill/>
        </p:spPr>
        <p:txBody>
          <a:bodyPr wrap="square" rtlCol="0">
            <a:spAutoFit/>
          </a:bodyPr>
          <a:lstStyle/>
          <a:p>
            <a:pPr algn="ctr"/>
            <a:r>
              <a:rPr lang="es-CO" b="1" dirty="0"/>
              <a:t>"Suspensión animada" (Antecedente de la criogenia):</a:t>
            </a:r>
            <a:r>
              <a:rPr lang="es-CO" dirty="0"/>
              <a:t> Franklin no solo deseaba vivir más, sino que anhelaba un método para "embalsamar" personas de forma que pudieran ser devueltas a la vida en el futuro.</a:t>
            </a:r>
          </a:p>
          <a:p>
            <a:endParaRPr lang="es-CO" dirty="0"/>
          </a:p>
        </p:txBody>
      </p:sp>
      <p:sp>
        <p:nvSpPr>
          <p:cNvPr id="4" name="Rectángulo: esquinas redondeadas 3">
            <a:extLst>
              <a:ext uri="{FF2B5EF4-FFF2-40B4-BE49-F238E27FC236}">
                <a16:creationId xmlns:a16="http://schemas.microsoft.com/office/drawing/2014/main" id="{D5F6EFA8-BDA1-C2C0-7CBF-875EB051F0D6}"/>
              </a:ext>
            </a:extLst>
          </p:cNvPr>
          <p:cNvSpPr/>
          <p:nvPr/>
        </p:nvSpPr>
        <p:spPr>
          <a:xfrm>
            <a:off x="6113703" y="1370379"/>
            <a:ext cx="2380890" cy="3003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CuadroTexto 4">
            <a:extLst>
              <a:ext uri="{FF2B5EF4-FFF2-40B4-BE49-F238E27FC236}">
                <a16:creationId xmlns:a16="http://schemas.microsoft.com/office/drawing/2014/main" id="{5BF43E35-92CD-A4DF-BB16-C07B764F71FF}"/>
              </a:ext>
            </a:extLst>
          </p:cNvPr>
          <p:cNvSpPr txBox="1"/>
          <p:nvPr/>
        </p:nvSpPr>
        <p:spPr>
          <a:xfrm>
            <a:off x="6136518" y="1702473"/>
            <a:ext cx="2380890" cy="2339102"/>
          </a:xfrm>
          <a:prstGeom prst="rect">
            <a:avLst/>
          </a:prstGeom>
          <a:noFill/>
        </p:spPr>
        <p:txBody>
          <a:bodyPr wrap="square" rtlCol="0">
            <a:spAutoFit/>
          </a:bodyPr>
          <a:lstStyle/>
          <a:p>
            <a:pPr lvl="0" algn="ctr"/>
            <a:r>
              <a:rPr lang="es-CO" sz="1600" b="1" dirty="0">
                <a:solidFill>
                  <a:schemeClr val="bg2"/>
                </a:solidFill>
              </a:rPr>
              <a:t>reconoció que vivía en un siglo "demasiado poco avanzado" y cercano a la "infancia de la ciencia" para ver tal técnica perfeccionada en su tiempo.</a:t>
            </a:r>
          </a:p>
          <a:p>
            <a:pPr algn="ctr"/>
            <a:endParaRPr lang="es-CO" sz="1600" b="1" dirty="0">
              <a:solidFill>
                <a:schemeClr val="bg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Rectángulo 253"/>
          <p:cNvSpPr/>
          <p:nvPr/>
        </p:nvSpPr>
        <p:spPr>
          <a:xfrm>
            <a:off x="476279" y="142902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a:tabLst>
                <a:tab pos="0" algn="l"/>
              </a:tabLst>
            </a:pPr>
            <a:r>
              <a:rPr lang="es-CO" dirty="0"/>
              <a:t>Mediados del siglo XVIII (1750). Su obra más famosa y controvertida</a:t>
            </a:r>
          </a:p>
          <a:p>
            <a:pPr algn="ctr">
              <a:tabLst>
                <a:tab pos="0" algn="l"/>
              </a:tabLst>
            </a:pPr>
            <a:r>
              <a:rPr lang="es-CO" dirty="0"/>
              <a:t> (El hombre máquina).</a:t>
            </a:r>
            <a:endParaRPr lang="en-US" sz="3500" b="0" u="none" strike="noStrike" dirty="0">
              <a:solidFill>
                <a:srgbClr val="FFFFFF"/>
              </a:solidFill>
              <a:effectLst/>
              <a:uFillTx/>
              <a:latin typeface="OpenSymbol"/>
            </a:endParaRPr>
          </a:p>
        </p:txBody>
      </p:sp>
      <p:sp>
        <p:nvSpPr>
          <p:cNvPr id="255" name="Rectángulo 25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38B12F66-7A48-81D6-1E5F-E8A059102B05}"/>
              </a:ext>
            </a:extLst>
          </p:cNvPr>
          <p:cNvSpPr txBox="1"/>
          <p:nvPr/>
        </p:nvSpPr>
        <p:spPr>
          <a:xfrm>
            <a:off x="2924355" y="291794"/>
            <a:ext cx="4459856" cy="461665"/>
          </a:xfrm>
          <a:prstGeom prst="rect">
            <a:avLst/>
          </a:prstGeom>
          <a:noFill/>
        </p:spPr>
        <p:txBody>
          <a:bodyPr wrap="square" rtlCol="0">
            <a:spAutoFit/>
          </a:bodyPr>
          <a:lstStyle/>
          <a:p>
            <a:r>
              <a:rPr lang="es-CO" sz="2400" b="1" dirty="0"/>
              <a:t>Julien </a:t>
            </a:r>
            <a:r>
              <a:rPr lang="es-CO" sz="2400" b="1" dirty="0" err="1"/>
              <a:t>Offray</a:t>
            </a:r>
            <a:r>
              <a:rPr lang="es-CO" sz="2400" b="1" dirty="0"/>
              <a:t> de La </a:t>
            </a:r>
            <a:r>
              <a:rPr lang="es-CO" sz="2400" b="1" dirty="0" err="1"/>
              <a:t>Mettrie</a:t>
            </a:r>
            <a:endParaRPr lang="es-CO" sz="2400" dirty="0"/>
          </a:p>
        </p:txBody>
      </p:sp>
      <p:sp>
        <p:nvSpPr>
          <p:cNvPr id="3" name="CuadroTexto 2">
            <a:extLst>
              <a:ext uri="{FF2B5EF4-FFF2-40B4-BE49-F238E27FC236}">
                <a16:creationId xmlns:a16="http://schemas.microsoft.com/office/drawing/2014/main" id="{4B40998B-2CFF-FAD4-AECB-FB556296CEBB}"/>
              </a:ext>
            </a:extLst>
          </p:cNvPr>
          <p:cNvSpPr txBox="1"/>
          <p:nvPr/>
        </p:nvSpPr>
        <p:spPr>
          <a:xfrm>
            <a:off x="965978" y="2857320"/>
            <a:ext cx="7211683" cy="1477328"/>
          </a:xfrm>
          <a:prstGeom prst="rect">
            <a:avLst/>
          </a:prstGeom>
          <a:noFill/>
        </p:spPr>
        <p:txBody>
          <a:bodyPr wrap="square" rtlCol="0">
            <a:spAutoFit/>
          </a:bodyPr>
          <a:lstStyle/>
          <a:p>
            <a:pPr algn="ctr"/>
            <a:r>
              <a:rPr lang="es-CO" dirty="0"/>
              <a:t>Según su visión, el cuerpo funciona bajo las mismas leyes físicas que cualquier otro objeto en el universo. No hay una "sustancia espiritual" separada que escape a la física; somos sistemas biológicos complejos, pero sistemas al fin.</a:t>
            </a:r>
          </a:p>
          <a:p>
            <a:pPr algn="ctr"/>
            <a:endParaRPr lang="es-CO"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66EAFE7-A711-595D-2120-B1E78A0CB5B0}"/>
              </a:ext>
            </a:extLst>
          </p:cNvPr>
          <p:cNvSpPr txBox="1"/>
          <p:nvPr/>
        </p:nvSpPr>
        <p:spPr>
          <a:xfrm>
            <a:off x="2984739" y="431321"/>
            <a:ext cx="3174521" cy="584775"/>
          </a:xfrm>
          <a:prstGeom prst="rect">
            <a:avLst/>
          </a:prstGeom>
          <a:noFill/>
        </p:spPr>
        <p:txBody>
          <a:bodyPr wrap="square" rtlCol="0">
            <a:spAutoFit/>
          </a:bodyPr>
          <a:lstStyle/>
          <a:p>
            <a:r>
              <a:rPr lang="es-CO" sz="3200" b="1" dirty="0"/>
              <a:t>Charles Darwin</a:t>
            </a:r>
            <a:r>
              <a:rPr lang="es-CO" sz="3200" dirty="0"/>
              <a:t> </a:t>
            </a:r>
          </a:p>
        </p:txBody>
      </p:sp>
      <p:sp>
        <p:nvSpPr>
          <p:cNvPr id="3" name="CuadroTexto 2">
            <a:extLst>
              <a:ext uri="{FF2B5EF4-FFF2-40B4-BE49-F238E27FC236}">
                <a16:creationId xmlns:a16="http://schemas.microsoft.com/office/drawing/2014/main" id="{D904820D-21A7-8E66-FD4B-FA8048B761B4}"/>
              </a:ext>
            </a:extLst>
          </p:cNvPr>
          <p:cNvSpPr txBox="1"/>
          <p:nvPr/>
        </p:nvSpPr>
        <p:spPr>
          <a:xfrm>
            <a:off x="2001328" y="1186972"/>
            <a:ext cx="5762445" cy="369332"/>
          </a:xfrm>
          <a:prstGeom prst="rect">
            <a:avLst/>
          </a:prstGeom>
          <a:noFill/>
        </p:spPr>
        <p:txBody>
          <a:bodyPr wrap="square" rtlCol="0">
            <a:spAutoFit/>
          </a:bodyPr>
          <a:lstStyle/>
          <a:p>
            <a:r>
              <a:rPr lang="es-CO" dirty="0"/>
              <a:t>1859, con la publicación de </a:t>
            </a:r>
            <a:r>
              <a:rPr lang="es-CO" i="1" u="sng" dirty="0"/>
              <a:t>El origen de las especies</a:t>
            </a:r>
            <a:r>
              <a:rPr lang="es-CO" dirty="0"/>
              <a:t>.</a:t>
            </a:r>
          </a:p>
        </p:txBody>
      </p:sp>
      <p:sp>
        <p:nvSpPr>
          <p:cNvPr id="4" name="CuadroTexto 3">
            <a:extLst>
              <a:ext uri="{FF2B5EF4-FFF2-40B4-BE49-F238E27FC236}">
                <a16:creationId xmlns:a16="http://schemas.microsoft.com/office/drawing/2014/main" id="{F20CAC4A-FF10-B9FE-F5BD-95C3B524C87B}"/>
              </a:ext>
            </a:extLst>
          </p:cNvPr>
          <p:cNvSpPr txBox="1"/>
          <p:nvPr/>
        </p:nvSpPr>
        <p:spPr>
          <a:xfrm>
            <a:off x="517585" y="1556304"/>
            <a:ext cx="8471140" cy="3416320"/>
          </a:xfrm>
          <a:prstGeom prst="rect">
            <a:avLst/>
          </a:prstGeom>
          <a:noFill/>
        </p:spPr>
        <p:txBody>
          <a:bodyPr wrap="square" rtlCol="0">
            <a:spAutoFit/>
          </a:bodyPr>
          <a:lstStyle/>
          <a:p>
            <a:pPr lvl="0" algn="ctr"/>
            <a:r>
              <a:rPr lang="es-CO" dirty="0"/>
              <a:t>El aporte fundamental de Darwin al pensamiento transhumanista es que hizo plausible ver a la especie humana actual no como el punto final o la cúspide de la evolución, sino simplemente como una </a:t>
            </a:r>
            <a:r>
              <a:rPr lang="es-CO" b="1" dirty="0"/>
              <a:t>fase temprana</a:t>
            </a:r>
            <a:r>
              <a:rPr lang="es-CO" dirty="0"/>
              <a:t> de un proceso biológico que continúa.</a:t>
            </a:r>
          </a:p>
          <a:p>
            <a:pPr lvl="0" algn="ctr"/>
            <a:r>
              <a:rPr lang="es-CO" dirty="0"/>
              <a:t>Esta visión rompe con la idea de una "naturaleza humana" estática y sagrada. Al entender que las especies cambian, se abre la puerta a la creencia de que la tecnología puede ser utilizada para mejorar y continuar el desarrollo del organismo humano.</a:t>
            </a:r>
          </a:p>
          <a:p>
            <a:pPr algn="ctr"/>
            <a:r>
              <a:rPr lang="es-CO" dirty="0"/>
              <a:t>La combinación del evolucionismo darwiniano con el fisicalismo científico (ver al hombre como materia) sentó las bases para creer que, si la naturaleza nos ha moldeado hasta aquí, nosotros podemos usar la ciencia para manipular esa misma naturaleza hacia estadios superiores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ctángulo 258"/>
          <p:cNvSpPr/>
          <p:nvPr/>
        </p:nvSpPr>
        <p:spPr>
          <a:xfrm>
            <a:off x="907601" y="476460"/>
            <a:ext cx="7759759"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algn="ctr" defTabSz="914400">
              <a:lnSpc>
                <a:spcPct val="100000"/>
              </a:lnSpc>
              <a:tabLst>
                <a:tab pos="0" algn="l"/>
              </a:tabLst>
            </a:pPr>
            <a:r>
              <a:rPr lang="en-US" sz="3500" b="1" dirty="0">
                <a:solidFill>
                  <a:schemeClr val="dk1"/>
                </a:solidFill>
                <a:latin typeface="DM Sans ExtraBold"/>
              </a:rPr>
              <a:t>J.B.S HALDANE: DÉDALO, O LA CIENCIA Y EL FUTURO</a:t>
            </a:r>
            <a:endParaRPr lang="en-US" sz="3500" b="0" u="none" strike="noStrike" dirty="0">
              <a:solidFill>
                <a:srgbClr val="FFFFFF"/>
              </a:solidFill>
              <a:effectLst/>
              <a:uFillTx/>
              <a:latin typeface="OpenSymbol"/>
            </a:endParaRPr>
          </a:p>
        </p:txBody>
      </p:sp>
      <p:sp>
        <p:nvSpPr>
          <p:cNvPr id="260" name="Rectángulo 25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9340802A-1CEC-67B0-14D7-D72EC1FCA974}"/>
              </a:ext>
            </a:extLst>
          </p:cNvPr>
          <p:cNvSpPr txBox="1"/>
          <p:nvPr/>
        </p:nvSpPr>
        <p:spPr>
          <a:xfrm>
            <a:off x="992019" y="1577920"/>
            <a:ext cx="8191080" cy="3416320"/>
          </a:xfrm>
          <a:prstGeom prst="rect">
            <a:avLst/>
          </a:prstGeom>
          <a:noFill/>
        </p:spPr>
        <p:txBody>
          <a:bodyPr wrap="square" rtlCol="0">
            <a:spAutoFit/>
          </a:bodyPr>
          <a:lstStyle/>
          <a:p>
            <a:pPr lvl="0"/>
            <a:r>
              <a:rPr lang="es-CO" dirty="0"/>
              <a:t>Haldane argumentó que el control de nuestra propia genética y la aplicación de la ciencia traerían beneficios masivos a la sociedad.</a:t>
            </a:r>
          </a:p>
          <a:p>
            <a:pPr lvl="0"/>
            <a:r>
              <a:rPr lang="es-CO" dirty="0"/>
              <a:t>Predijo una sociedad con energía limpia abundante y donde la genética se usaría para hacer a las personas más inteligentes, sanas y altas.</a:t>
            </a:r>
          </a:p>
          <a:p>
            <a:pPr lvl="0"/>
            <a:r>
              <a:rPr lang="es-CO" b="1" dirty="0"/>
              <a:t>La </a:t>
            </a:r>
            <a:r>
              <a:rPr lang="es-CO" b="1" dirty="0" err="1"/>
              <a:t>Exogénesis</a:t>
            </a:r>
            <a:r>
              <a:rPr lang="es-CO" b="1" dirty="0"/>
              <a:t>:</a:t>
            </a:r>
            <a:r>
              <a:rPr lang="es-CO" dirty="0"/>
              <a:t> Introdujo el concepto de gestación de fetos en vientres artificiales, algo que entonces era pura especulación científica y que hoy conocemos como </a:t>
            </a:r>
            <a:r>
              <a:rPr lang="es-CO" dirty="0" err="1"/>
              <a:t>ectogénesis</a:t>
            </a:r>
            <a:r>
              <a:rPr lang="es-CO" dirty="0"/>
              <a:t>.</a:t>
            </a:r>
          </a:p>
          <a:p>
            <a:pPr lvl="0"/>
            <a:r>
              <a:rPr lang="es-CO" b="1" dirty="0"/>
              <a:t>El "Factor </a:t>
            </a:r>
            <a:r>
              <a:rPr lang="es-CO" b="1" dirty="0" err="1"/>
              <a:t>Yuck</a:t>
            </a:r>
            <a:r>
              <a:rPr lang="es-CO" b="1" dirty="0"/>
              <a:t>":</a:t>
            </a:r>
            <a:r>
              <a:rPr lang="es-CO" dirty="0"/>
              <a:t> Haldane fue muy perspicaz al notar que todo invento biológico es recibido inicialmente como una "perversión" o algo "indecente e innatural" por quienes no la conocen, comparando al inventor biológico con un Prometeo que insulta a los dioses al querer volar. </a:t>
            </a:r>
          </a:p>
          <a:p>
            <a:endParaRPr lang="es-CO" dirty="0"/>
          </a:p>
        </p:txBody>
      </p:sp>
      <p:sp>
        <p:nvSpPr>
          <p:cNvPr id="3" name="Círculo: vacío 2">
            <a:extLst>
              <a:ext uri="{FF2B5EF4-FFF2-40B4-BE49-F238E27FC236}">
                <a16:creationId xmlns:a16="http://schemas.microsoft.com/office/drawing/2014/main" id="{3805FA9F-25EA-0F6C-C2FC-CD39DC693C7B}"/>
              </a:ext>
            </a:extLst>
          </p:cNvPr>
          <p:cNvSpPr/>
          <p:nvPr/>
        </p:nvSpPr>
        <p:spPr>
          <a:xfrm>
            <a:off x="701345" y="1727180"/>
            <a:ext cx="177935" cy="177940"/>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4" name="Círculo: vacío 3">
            <a:extLst>
              <a:ext uri="{FF2B5EF4-FFF2-40B4-BE49-F238E27FC236}">
                <a16:creationId xmlns:a16="http://schemas.microsoft.com/office/drawing/2014/main" id="{825F377A-D11B-67EC-071B-B4D10DFFF323}"/>
              </a:ext>
            </a:extLst>
          </p:cNvPr>
          <p:cNvSpPr/>
          <p:nvPr/>
        </p:nvSpPr>
        <p:spPr>
          <a:xfrm>
            <a:off x="687930" y="3643245"/>
            <a:ext cx="177935" cy="177940"/>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5" name="Círculo: vacío 4">
            <a:extLst>
              <a:ext uri="{FF2B5EF4-FFF2-40B4-BE49-F238E27FC236}">
                <a16:creationId xmlns:a16="http://schemas.microsoft.com/office/drawing/2014/main" id="{C27EBAA7-44A6-C44A-9491-152F1BEC8A08}"/>
              </a:ext>
            </a:extLst>
          </p:cNvPr>
          <p:cNvSpPr/>
          <p:nvPr/>
        </p:nvSpPr>
        <p:spPr>
          <a:xfrm>
            <a:off x="687930" y="2232320"/>
            <a:ext cx="177935" cy="177940"/>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6" name="Círculo: vacío 5">
            <a:extLst>
              <a:ext uri="{FF2B5EF4-FFF2-40B4-BE49-F238E27FC236}">
                <a16:creationId xmlns:a16="http://schemas.microsoft.com/office/drawing/2014/main" id="{39DABF21-FEBE-59D0-68AA-FCDBFC3C236C}"/>
              </a:ext>
            </a:extLst>
          </p:cNvPr>
          <p:cNvSpPr/>
          <p:nvPr/>
        </p:nvSpPr>
        <p:spPr>
          <a:xfrm>
            <a:off x="701344" y="2797390"/>
            <a:ext cx="177935" cy="177940"/>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Rectángulo 261"/>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97FC35A0-14A9-EA0A-DF39-CBC00BF29C6D}"/>
              </a:ext>
            </a:extLst>
          </p:cNvPr>
          <p:cNvSpPr txBox="1"/>
          <p:nvPr/>
        </p:nvSpPr>
        <p:spPr>
          <a:xfrm>
            <a:off x="1414732" y="534838"/>
            <a:ext cx="6694098" cy="461665"/>
          </a:xfrm>
          <a:prstGeom prst="rect">
            <a:avLst/>
          </a:prstGeom>
          <a:noFill/>
        </p:spPr>
        <p:txBody>
          <a:bodyPr wrap="square" rtlCol="0">
            <a:spAutoFit/>
          </a:bodyPr>
          <a:lstStyle/>
          <a:p>
            <a:r>
              <a:rPr lang="es-CO" sz="2400" dirty="0"/>
              <a:t>JULIAN HUXLEY: TRANSHUMANISMO</a:t>
            </a:r>
          </a:p>
        </p:txBody>
      </p:sp>
      <p:sp>
        <p:nvSpPr>
          <p:cNvPr id="3" name="CuadroTexto 2">
            <a:extLst>
              <a:ext uri="{FF2B5EF4-FFF2-40B4-BE49-F238E27FC236}">
                <a16:creationId xmlns:a16="http://schemas.microsoft.com/office/drawing/2014/main" id="{A7C13D4B-2ADD-9912-68D4-938D4832A131}"/>
              </a:ext>
            </a:extLst>
          </p:cNvPr>
          <p:cNvSpPr txBox="1"/>
          <p:nvPr/>
        </p:nvSpPr>
        <p:spPr>
          <a:xfrm>
            <a:off x="672860" y="1201468"/>
            <a:ext cx="7435970" cy="923330"/>
          </a:xfrm>
          <a:prstGeom prst="rect">
            <a:avLst/>
          </a:prstGeom>
          <a:noFill/>
        </p:spPr>
        <p:txBody>
          <a:bodyPr wrap="square" rtlCol="0">
            <a:spAutoFit/>
          </a:bodyPr>
          <a:lstStyle/>
          <a:p>
            <a:r>
              <a:rPr lang="es-CO" dirty="0"/>
              <a:t>En su obra de 1927, </a:t>
            </a:r>
            <a:r>
              <a:rPr lang="es-CO" b="1" i="1" dirty="0"/>
              <a:t>Religión sin revelación”.</a:t>
            </a:r>
            <a:r>
              <a:rPr lang="es-CO" dirty="0"/>
              <a:t>, </a:t>
            </a:r>
            <a:r>
              <a:rPr lang="es-CO" dirty="0" err="1"/>
              <a:t>Julian</a:t>
            </a:r>
            <a:r>
              <a:rPr lang="es-CO" dirty="0"/>
              <a:t> propuso una visión transformadora:</a:t>
            </a:r>
          </a:p>
          <a:p>
            <a:endParaRPr lang="es-CO" dirty="0"/>
          </a:p>
        </p:txBody>
      </p:sp>
      <p:sp>
        <p:nvSpPr>
          <p:cNvPr id="4" name="CuadroTexto 3">
            <a:extLst>
              <a:ext uri="{FF2B5EF4-FFF2-40B4-BE49-F238E27FC236}">
                <a16:creationId xmlns:a16="http://schemas.microsoft.com/office/drawing/2014/main" id="{7517B384-9B00-35B6-D2EE-BC3BC1303F43}"/>
              </a:ext>
            </a:extLst>
          </p:cNvPr>
          <p:cNvSpPr txBox="1"/>
          <p:nvPr/>
        </p:nvSpPr>
        <p:spPr>
          <a:xfrm>
            <a:off x="1224950" y="2166694"/>
            <a:ext cx="6331789" cy="923330"/>
          </a:xfrm>
          <a:prstGeom prst="rect">
            <a:avLst/>
          </a:prstGeom>
          <a:noFill/>
        </p:spPr>
        <p:txBody>
          <a:bodyPr wrap="square" rtlCol="0">
            <a:spAutoFit/>
          </a:bodyPr>
          <a:lstStyle/>
          <a:p>
            <a:r>
              <a:rPr lang="es-CO" dirty="0"/>
              <a:t>Transhumanismo:  "el hombre permanece hombre, pero trascendiéndose mediante la realización de nuevas posibilidades de y para su naturaleza humana".</a:t>
            </a:r>
          </a:p>
        </p:txBody>
      </p:sp>
      <p:sp>
        <p:nvSpPr>
          <p:cNvPr id="5" name="CuadroTexto 4">
            <a:extLst>
              <a:ext uri="{FF2B5EF4-FFF2-40B4-BE49-F238E27FC236}">
                <a16:creationId xmlns:a16="http://schemas.microsoft.com/office/drawing/2014/main" id="{BC1DEF10-84C2-E2B7-2427-9F49FB856D5B}"/>
              </a:ext>
            </a:extLst>
          </p:cNvPr>
          <p:cNvSpPr txBox="1"/>
          <p:nvPr/>
        </p:nvSpPr>
        <p:spPr>
          <a:xfrm>
            <a:off x="1224950" y="3131920"/>
            <a:ext cx="6625087" cy="1754326"/>
          </a:xfrm>
          <a:prstGeom prst="rect">
            <a:avLst/>
          </a:prstGeom>
          <a:noFill/>
        </p:spPr>
        <p:txBody>
          <a:bodyPr wrap="square" rtlCol="0">
            <a:spAutoFit/>
          </a:bodyPr>
          <a:lstStyle/>
          <a:p>
            <a:pPr lvl="0"/>
            <a:endParaRPr lang="es-CO" dirty="0"/>
          </a:p>
          <a:p>
            <a:pPr lvl="0"/>
            <a:r>
              <a:rPr lang="es-CO" dirty="0"/>
              <a:t> Un ejemplo sería el uso de la </a:t>
            </a:r>
            <a:r>
              <a:rPr lang="es-CO" b="1" dirty="0"/>
              <a:t>ingeniería genética</a:t>
            </a:r>
            <a:r>
              <a:rPr lang="es-CO" dirty="0"/>
              <a:t> a nivel global para eliminar enfermedades hereditarias en toda la población. En este escenario, no es solo una persona la que se beneficia, sino que </a:t>
            </a:r>
            <a:r>
              <a:rPr lang="es-CO" b="1" dirty="0"/>
              <a:t>toda la humanidad</a:t>
            </a:r>
            <a:r>
              <a:rPr lang="es-CO" dirty="0"/>
              <a:t> </a:t>
            </a:r>
          </a:p>
          <a:p>
            <a:endParaRPr lang="es-CO"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Rectángulo 26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defTabSz="914400">
              <a:lnSpc>
                <a:spcPct val="100000"/>
              </a:lnSpc>
              <a:tabLst>
                <a:tab pos="0" algn="l"/>
              </a:tabLst>
            </a:pPr>
            <a:r>
              <a:rPr lang="en-US" sz="3500" b="1" u="none" strike="noStrike" dirty="0">
                <a:solidFill>
                  <a:schemeClr val="dk1"/>
                </a:solidFill>
                <a:effectLst/>
                <a:uFillTx/>
                <a:latin typeface="DM Sans ExtraBold"/>
              </a:rPr>
              <a:t>ALDOUS HUXLEY y la </a:t>
            </a:r>
            <a:r>
              <a:rPr lang="en-US" sz="3500" b="1" u="none" strike="noStrike" dirty="0" err="1">
                <a:solidFill>
                  <a:schemeClr val="dk1"/>
                </a:solidFill>
                <a:effectLst/>
                <a:uFillTx/>
                <a:latin typeface="DM Sans ExtraBold"/>
              </a:rPr>
              <a:t>crítica</a:t>
            </a:r>
            <a:r>
              <a:rPr lang="en-US" sz="3500" b="1" u="none" strike="noStrike" dirty="0">
                <a:solidFill>
                  <a:schemeClr val="dk1"/>
                </a:solidFill>
                <a:effectLst/>
                <a:uFillTx/>
                <a:latin typeface="DM Sans ExtraBold"/>
              </a:rPr>
              <a:t>: </a:t>
            </a:r>
            <a:r>
              <a:rPr lang="en-US" sz="3500" b="1" i="1" u="sng" strike="noStrike" dirty="0">
                <a:solidFill>
                  <a:schemeClr val="dk1"/>
                </a:solidFill>
                <a:effectLst/>
                <a:uFillTx/>
                <a:latin typeface="DM Sans ExtraBold"/>
              </a:rPr>
              <a:t>Un </a:t>
            </a:r>
            <a:r>
              <a:rPr lang="en-US" sz="3500" b="1" i="1" u="sng" strike="noStrike" dirty="0" err="1">
                <a:solidFill>
                  <a:schemeClr val="dk1"/>
                </a:solidFill>
                <a:effectLst/>
                <a:uFillTx/>
                <a:latin typeface="DM Sans ExtraBold"/>
              </a:rPr>
              <a:t>mundo</a:t>
            </a:r>
            <a:r>
              <a:rPr lang="en-US" sz="3500" b="1" i="1" u="sng" strike="noStrike" dirty="0">
                <a:solidFill>
                  <a:schemeClr val="dk1"/>
                </a:solidFill>
                <a:effectLst/>
                <a:uFillTx/>
                <a:latin typeface="DM Sans ExtraBold"/>
              </a:rPr>
              <a:t> </a:t>
            </a:r>
            <a:r>
              <a:rPr lang="en-US" sz="3500" b="1" i="1" u="sng" strike="noStrike" dirty="0" err="1">
                <a:solidFill>
                  <a:schemeClr val="dk1"/>
                </a:solidFill>
                <a:effectLst/>
                <a:uFillTx/>
                <a:latin typeface="DM Sans ExtraBold"/>
              </a:rPr>
              <a:t>feliz</a:t>
            </a:r>
            <a:endParaRPr lang="en-US" sz="3500" b="0" i="1" u="sng" strike="noStrike" dirty="0">
              <a:solidFill>
                <a:srgbClr val="FFFFFF"/>
              </a:solidFill>
              <a:effectLst/>
              <a:uFillTx/>
              <a:latin typeface="OpenSymbol"/>
            </a:endParaRPr>
          </a:p>
        </p:txBody>
      </p:sp>
      <p:sp>
        <p:nvSpPr>
          <p:cNvPr id="265" name="Rectángulo 26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2" name="CuadroTexto 1">
            <a:extLst>
              <a:ext uri="{FF2B5EF4-FFF2-40B4-BE49-F238E27FC236}">
                <a16:creationId xmlns:a16="http://schemas.microsoft.com/office/drawing/2014/main" id="{3DB27CC8-DAF2-01D5-9DD6-5B4096B9D2CD}"/>
              </a:ext>
            </a:extLst>
          </p:cNvPr>
          <p:cNvSpPr txBox="1"/>
          <p:nvPr/>
        </p:nvSpPr>
        <p:spPr>
          <a:xfrm>
            <a:off x="414070" y="1541112"/>
            <a:ext cx="3697856" cy="369332"/>
          </a:xfrm>
          <a:prstGeom prst="rect">
            <a:avLst/>
          </a:prstGeom>
          <a:noFill/>
        </p:spPr>
        <p:txBody>
          <a:bodyPr wrap="square" rtlCol="0">
            <a:spAutoFit/>
          </a:bodyPr>
          <a:lstStyle/>
          <a:p>
            <a:r>
              <a:rPr lang="es-CO" b="1" dirty="0"/>
              <a:t>MANUPULACION BIOLOGIA</a:t>
            </a:r>
            <a:endParaRPr lang="es-CO" dirty="0"/>
          </a:p>
        </p:txBody>
      </p:sp>
      <p:sp>
        <p:nvSpPr>
          <p:cNvPr id="3" name="CuadroTexto 2">
            <a:extLst>
              <a:ext uri="{FF2B5EF4-FFF2-40B4-BE49-F238E27FC236}">
                <a16:creationId xmlns:a16="http://schemas.microsoft.com/office/drawing/2014/main" id="{C69EF84A-A61C-16C3-D56D-B5C4DB637158}"/>
              </a:ext>
            </a:extLst>
          </p:cNvPr>
          <p:cNvSpPr txBox="1"/>
          <p:nvPr/>
        </p:nvSpPr>
        <p:spPr>
          <a:xfrm>
            <a:off x="414071" y="2202418"/>
            <a:ext cx="3191774" cy="369332"/>
          </a:xfrm>
          <a:prstGeom prst="rect">
            <a:avLst/>
          </a:prstGeom>
          <a:noFill/>
        </p:spPr>
        <p:txBody>
          <a:bodyPr wrap="square" rtlCol="0">
            <a:spAutoFit/>
          </a:bodyPr>
          <a:lstStyle/>
          <a:p>
            <a:r>
              <a:rPr lang="es-CO" b="1" dirty="0"/>
              <a:t>CONTROL DE CASTAS</a:t>
            </a:r>
            <a:endParaRPr lang="es-CO" dirty="0"/>
          </a:p>
        </p:txBody>
      </p:sp>
      <p:sp>
        <p:nvSpPr>
          <p:cNvPr id="4" name="CuadroTexto 3">
            <a:extLst>
              <a:ext uri="{FF2B5EF4-FFF2-40B4-BE49-F238E27FC236}">
                <a16:creationId xmlns:a16="http://schemas.microsoft.com/office/drawing/2014/main" id="{8670DF0D-388B-E3A0-8A41-4327FB00CA3F}"/>
              </a:ext>
            </a:extLst>
          </p:cNvPr>
          <p:cNvSpPr txBox="1"/>
          <p:nvPr/>
        </p:nvSpPr>
        <p:spPr>
          <a:xfrm>
            <a:off x="4793756" y="1519301"/>
            <a:ext cx="3191774" cy="646331"/>
          </a:xfrm>
          <a:prstGeom prst="rect">
            <a:avLst/>
          </a:prstGeom>
          <a:noFill/>
        </p:spPr>
        <p:txBody>
          <a:bodyPr wrap="square" rtlCol="0">
            <a:spAutoFit/>
          </a:bodyPr>
          <a:lstStyle/>
          <a:p>
            <a:r>
              <a:rPr lang="es-CO" b="1" dirty="0"/>
              <a:t>ACONDICIONAMIENTO Y EL “SOMA”</a:t>
            </a:r>
            <a:endParaRPr lang="es-CO" dirty="0"/>
          </a:p>
        </p:txBody>
      </p:sp>
      <p:sp>
        <p:nvSpPr>
          <p:cNvPr id="5" name="CuadroTexto 4">
            <a:extLst>
              <a:ext uri="{FF2B5EF4-FFF2-40B4-BE49-F238E27FC236}">
                <a16:creationId xmlns:a16="http://schemas.microsoft.com/office/drawing/2014/main" id="{12086C91-F76D-B2B5-8AB0-2352BE522F99}"/>
              </a:ext>
            </a:extLst>
          </p:cNvPr>
          <p:cNvSpPr txBox="1"/>
          <p:nvPr/>
        </p:nvSpPr>
        <p:spPr>
          <a:xfrm>
            <a:off x="4793756" y="2322130"/>
            <a:ext cx="3191774" cy="369332"/>
          </a:xfrm>
          <a:prstGeom prst="rect">
            <a:avLst/>
          </a:prstGeom>
          <a:noFill/>
        </p:spPr>
        <p:txBody>
          <a:bodyPr wrap="square" rtlCol="0">
            <a:spAutoFit/>
          </a:bodyPr>
          <a:lstStyle/>
          <a:p>
            <a:r>
              <a:rPr lang="es-CO" b="1" dirty="0"/>
              <a:t>LA DESHUMANIZACIÓN</a:t>
            </a:r>
            <a:endParaRPr lang="es-CO" dirty="0"/>
          </a:p>
        </p:txBody>
      </p:sp>
      <p:sp>
        <p:nvSpPr>
          <p:cNvPr id="6" name="CuadroTexto 5">
            <a:extLst>
              <a:ext uri="{FF2B5EF4-FFF2-40B4-BE49-F238E27FC236}">
                <a16:creationId xmlns:a16="http://schemas.microsoft.com/office/drawing/2014/main" id="{4C592251-A227-D7D9-52F3-99E87B50219C}"/>
              </a:ext>
            </a:extLst>
          </p:cNvPr>
          <p:cNvSpPr txBox="1"/>
          <p:nvPr/>
        </p:nvSpPr>
        <p:spPr>
          <a:xfrm>
            <a:off x="724619" y="3140015"/>
            <a:ext cx="7798279" cy="1754326"/>
          </a:xfrm>
          <a:prstGeom prst="rect">
            <a:avLst/>
          </a:prstGeom>
          <a:noFill/>
        </p:spPr>
        <p:txBody>
          <a:bodyPr wrap="square" rtlCol="0">
            <a:spAutoFit/>
          </a:bodyPr>
          <a:lstStyle/>
          <a:p>
            <a:r>
              <a:rPr lang="es-CO" dirty="0"/>
              <a:t>En </a:t>
            </a:r>
            <a:r>
              <a:rPr lang="es-CO" b="1" i="1" u="sng" dirty="0"/>
              <a:t>Un mundo feliz</a:t>
            </a:r>
            <a:r>
              <a:rPr lang="es-CO" dirty="0"/>
              <a:t>, la tecnología no se emplea para incrementar las capacidades humanas, sino para detener el desarrollo completo de la humanidad por miedo a subvertir el equilibrio social. Por ello, esta obra es hoy un emblema del potencial deshumanizador de la técnica cuando se usa para el control totalitario en lugar de la libertad</a:t>
            </a:r>
          </a:p>
          <a:p>
            <a:endParaRPr lang="es-CO" dirty="0"/>
          </a:p>
        </p:txBody>
      </p:sp>
      <p:sp>
        <p:nvSpPr>
          <p:cNvPr id="7" name="Flecha: a la derecha 6">
            <a:extLst>
              <a:ext uri="{FF2B5EF4-FFF2-40B4-BE49-F238E27FC236}">
                <a16:creationId xmlns:a16="http://schemas.microsoft.com/office/drawing/2014/main" id="{DDF52D7C-9DB8-AFF9-AF93-E5248764A037}"/>
              </a:ext>
            </a:extLst>
          </p:cNvPr>
          <p:cNvSpPr/>
          <p:nvPr/>
        </p:nvSpPr>
        <p:spPr>
          <a:xfrm>
            <a:off x="158044" y="1648178"/>
            <a:ext cx="256027" cy="1354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Flecha: a la derecha 7">
            <a:extLst>
              <a:ext uri="{FF2B5EF4-FFF2-40B4-BE49-F238E27FC236}">
                <a16:creationId xmlns:a16="http://schemas.microsoft.com/office/drawing/2014/main" id="{A62A1E44-464C-8DE3-01CD-732D6ADE63FA}"/>
              </a:ext>
            </a:extLst>
          </p:cNvPr>
          <p:cNvSpPr/>
          <p:nvPr/>
        </p:nvSpPr>
        <p:spPr>
          <a:xfrm>
            <a:off x="189148" y="2319351"/>
            <a:ext cx="256027" cy="1354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Flecha: a la derecha 8">
            <a:extLst>
              <a:ext uri="{FF2B5EF4-FFF2-40B4-BE49-F238E27FC236}">
                <a16:creationId xmlns:a16="http://schemas.microsoft.com/office/drawing/2014/main" id="{EB3AEDF6-7D5B-167A-0AA7-8833279A9777}"/>
              </a:ext>
            </a:extLst>
          </p:cNvPr>
          <p:cNvSpPr/>
          <p:nvPr/>
        </p:nvSpPr>
        <p:spPr>
          <a:xfrm>
            <a:off x="4367731" y="1658045"/>
            <a:ext cx="256027" cy="1354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Flecha: a la derecha 9">
            <a:extLst>
              <a:ext uri="{FF2B5EF4-FFF2-40B4-BE49-F238E27FC236}">
                <a16:creationId xmlns:a16="http://schemas.microsoft.com/office/drawing/2014/main" id="{6E7FC7DB-DB62-BC4B-F0C2-A503F4D66204}"/>
              </a:ext>
            </a:extLst>
          </p:cNvPr>
          <p:cNvSpPr/>
          <p:nvPr/>
        </p:nvSpPr>
        <p:spPr>
          <a:xfrm>
            <a:off x="4367730" y="2414368"/>
            <a:ext cx="256027" cy="1354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1019160" y="346989"/>
            <a:ext cx="3400200" cy="605751"/>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500" b="1" u="none" strike="noStrike" dirty="0">
                <a:solidFill>
                  <a:schemeClr val="dk1"/>
                </a:solidFill>
                <a:effectLst/>
                <a:uFillTx/>
                <a:latin typeface="DM Sans ExtraBold"/>
                <a:ea typeface="DM Sans ExtraBold"/>
              </a:rPr>
              <a:t>ALAN TURING</a:t>
            </a:r>
            <a:endParaRPr lang="fr-FR" sz="3500" b="0" u="none" strike="noStrike" dirty="0">
              <a:solidFill>
                <a:schemeClr val="dk1"/>
              </a:solidFill>
              <a:effectLst/>
              <a:uFillTx/>
              <a:latin typeface="Arial"/>
            </a:endParaRPr>
          </a:p>
        </p:txBody>
      </p:sp>
      <p:sp>
        <p:nvSpPr>
          <p:cNvPr id="267" name="PlaceHolder 2"/>
          <p:cNvSpPr>
            <a:spLocks noGrp="1"/>
          </p:cNvSpPr>
          <p:nvPr>
            <p:ph type="subTitle"/>
          </p:nvPr>
        </p:nvSpPr>
        <p:spPr>
          <a:xfrm>
            <a:off x="314945" y="1112493"/>
            <a:ext cx="3828370" cy="4360743"/>
          </a:xfrm>
          <a:prstGeom prst="rect">
            <a:avLst/>
          </a:prstGeom>
          <a:noFill/>
          <a:ln w="0">
            <a:noFill/>
          </a:ln>
        </p:spPr>
        <p:txBody>
          <a:bodyPr lIns="91440" tIns="91440" rIns="91440" bIns="91440" anchor="t">
            <a:normAutofit fontScale="55000" lnSpcReduction="20000"/>
          </a:bodyPr>
          <a:lstStyle/>
          <a:p>
            <a:pPr algn="ctr"/>
            <a:r>
              <a:rPr lang="es-CO" dirty="0"/>
              <a:t>En 1950, proporcionó una definición operacional de la inteligencia a través de su famoso "Test de Turing", sugiriendo que las máquinas podrían eventualmente igualar el razonamiento humano</a:t>
            </a:r>
          </a:p>
          <a:p>
            <a:pPr algn="ctr"/>
            <a:endParaRPr lang="es-CO" sz="1400" b="0" u="none" strike="noStrike" dirty="0">
              <a:solidFill>
                <a:schemeClr val="dk1"/>
              </a:solidFill>
              <a:effectLst/>
              <a:uFillTx/>
              <a:latin typeface="Albert Sans"/>
              <a:ea typeface="Albert Sans"/>
            </a:endParaRPr>
          </a:p>
          <a:p>
            <a:pPr algn="ctr"/>
            <a:r>
              <a:rPr lang="es-CO" dirty="0"/>
              <a:t>Su importancia radica en que movió el debate de autómatas de la mitología a la facultad de la predicción tecnológica.</a:t>
            </a:r>
          </a:p>
          <a:p>
            <a:pPr algn="ctr"/>
            <a:endParaRPr lang="en-US" sz="1400" b="0" u="none" strike="noStrike" dirty="0">
              <a:solidFill>
                <a:schemeClr val="dk1"/>
              </a:solidFill>
              <a:effectLst/>
              <a:uFillTx/>
              <a:latin typeface="Albert Sans"/>
              <a:ea typeface="Albert Sans"/>
            </a:endParaRPr>
          </a:p>
        </p:txBody>
      </p:sp>
      <p:pic>
        <p:nvPicPr>
          <p:cNvPr id="6" name="Imagen 5">
            <a:extLst>
              <a:ext uri="{FF2B5EF4-FFF2-40B4-BE49-F238E27FC236}">
                <a16:creationId xmlns:a16="http://schemas.microsoft.com/office/drawing/2014/main" id="{BD2D36E7-A757-BC11-B450-E039EC01A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360" y="0"/>
            <a:ext cx="472464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14ED4CE-18A6-12B7-7FA4-9D100D6E53E1}"/>
              </a:ext>
            </a:extLst>
          </p:cNvPr>
          <p:cNvSpPr txBox="1"/>
          <p:nvPr/>
        </p:nvSpPr>
        <p:spPr>
          <a:xfrm>
            <a:off x="862641" y="465826"/>
            <a:ext cx="3071004" cy="523220"/>
          </a:xfrm>
          <a:prstGeom prst="rect">
            <a:avLst/>
          </a:prstGeom>
          <a:noFill/>
        </p:spPr>
        <p:txBody>
          <a:bodyPr wrap="square" rtlCol="0">
            <a:spAutoFit/>
          </a:bodyPr>
          <a:lstStyle/>
          <a:p>
            <a:r>
              <a:rPr lang="es-CO" sz="2800" b="1" dirty="0"/>
              <a:t>Robert </a:t>
            </a:r>
            <a:r>
              <a:rPr lang="es-CO" sz="2800" b="1" dirty="0" err="1"/>
              <a:t>Ettinger</a:t>
            </a:r>
            <a:r>
              <a:rPr lang="es-CO" sz="2800" b="1" dirty="0"/>
              <a:t>:</a:t>
            </a:r>
            <a:endParaRPr lang="es-CO" sz="2800" dirty="0"/>
          </a:p>
        </p:txBody>
      </p:sp>
      <p:sp>
        <p:nvSpPr>
          <p:cNvPr id="5" name="CuadroTexto 4">
            <a:extLst>
              <a:ext uri="{FF2B5EF4-FFF2-40B4-BE49-F238E27FC236}">
                <a16:creationId xmlns:a16="http://schemas.microsoft.com/office/drawing/2014/main" id="{1E608F0F-9AD4-A7A5-1CAD-A3087942BAAA}"/>
              </a:ext>
            </a:extLst>
          </p:cNvPr>
          <p:cNvSpPr txBox="1"/>
          <p:nvPr/>
        </p:nvSpPr>
        <p:spPr>
          <a:xfrm>
            <a:off x="431320" y="1357848"/>
            <a:ext cx="3933646" cy="3785652"/>
          </a:xfrm>
          <a:prstGeom prst="rect">
            <a:avLst/>
          </a:prstGeom>
          <a:noFill/>
        </p:spPr>
        <p:txBody>
          <a:bodyPr wrap="square" rtlCol="0">
            <a:spAutoFit/>
          </a:bodyPr>
          <a:lstStyle/>
          <a:p>
            <a:pPr algn="ctr"/>
            <a:r>
              <a:rPr lang="es-CO" sz="2400" dirty="0"/>
              <a:t>Es el padre de la criogenia moderna. En su obra </a:t>
            </a:r>
            <a:r>
              <a:rPr lang="es-CO" sz="2400" b="1" i="1" dirty="0"/>
              <a:t>La perspectiva de la inmortalidad”</a:t>
            </a:r>
            <a:r>
              <a:rPr lang="es-CO" sz="2400" i="1" dirty="0"/>
              <a:t>.</a:t>
            </a:r>
            <a:r>
              <a:rPr lang="es-CO" sz="2400" dirty="0"/>
              <a:t>, lanzó la idea de la suspensión criogénica: congelar a una persona hoy para que tecnología futura repare el daño y la devuelva a la vida</a:t>
            </a:r>
          </a:p>
        </p:txBody>
      </p:sp>
      <p:pic>
        <p:nvPicPr>
          <p:cNvPr id="7" name="Imagen 6">
            <a:extLst>
              <a:ext uri="{FF2B5EF4-FFF2-40B4-BE49-F238E27FC236}">
                <a16:creationId xmlns:a16="http://schemas.microsoft.com/office/drawing/2014/main" id="{E8011B48-D07D-697E-7EC1-F209AD878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5425" y="0"/>
            <a:ext cx="4538575" cy="5143500"/>
          </a:xfrm>
          <a:prstGeom prst="rect">
            <a:avLst/>
          </a:prstGeom>
        </p:spPr>
      </p:pic>
    </p:spTree>
    <p:extLst>
      <p:ext uri="{BB962C8B-B14F-4D97-AF65-F5344CB8AC3E}">
        <p14:creationId xmlns:p14="http://schemas.microsoft.com/office/powerpoint/2010/main" val="2068946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6B5DE8-E592-3137-C0E9-914ABD66FF69}"/>
              </a:ext>
            </a:extLst>
          </p:cNvPr>
          <p:cNvSpPr>
            <a:spLocks noGrp="1"/>
          </p:cNvSpPr>
          <p:nvPr>
            <p:ph type="title"/>
          </p:nvPr>
        </p:nvSpPr>
        <p:spPr>
          <a:xfrm>
            <a:off x="1370241" y="1160178"/>
            <a:ext cx="6403517" cy="2171520"/>
          </a:xfrm>
        </p:spPr>
        <p:txBody>
          <a:bodyPr/>
          <a:lstStyle/>
          <a:p>
            <a:r>
              <a:rPr lang="es-CO" sz="9600" dirty="0"/>
              <a:t>GRACIAS</a:t>
            </a:r>
            <a:endParaRPr lang="es-CO" dirty="0"/>
          </a:p>
        </p:txBody>
      </p:sp>
    </p:spTree>
    <p:extLst>
      <p:ext uri="{BB962C8B-B14F-4D97-AF65-F5344CB8AC3E}">
        <p14:creationId xmlns:p14="http://schemas.microsoft.com/office/powerpoint/2010/main" val="3800357525"/>
      </p:ext>
    </p:extLst>
  </p:cSld>
  <p:clrMapOvr>
    <a:masterClrMapping/>
  </p:clrMapOvr>
</p:sld>
</file>

<file path=ppt/theme/theme1.xml><?xml version="1.0" encoding="utf-8"?>
<a:theme xmlns:a="http://schemas.openxmlformats.org/drawingml/2006/main" name="Force, Motion, and Energy - Science - 10th Grade by Slidesgo">
  <a:themeElements>
    <a:clrScheme name="Simple Light">
      <a:dk1>
        <a:srgbClr val="FFFFFF"/>
      </a:dk1>
      <a:lt1>
        <a:srgbClr val="0F2A29"/>
      </a:lt1>
      <a:dk2>
        <a:srgbClr val="017171"/>
      </a:dk2>
      <a:lt2>
        <a:srgbClr val="00AEAD"/>
      </a:lt2>
      <a:accent1>
        <a:srgbClr val="11EBEB"/>
      </a:accent1>
      <a:accent2>
        <a:srgbClr val="ABE9E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1057</TotalTime>
  <Words>1699</Words>
  <Application>Microsoft Office PowerPoint</Application>
  <PresentationFormat>Presentación en pantalla (16:9)</PresentationFormat>
  <Paragraphs>83</Paragraphs>
  <Slides>21</Slides>
  <Notes>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21</vt:i4>
      </vt:variant>
    </vt:vector>
  </HeadingPairs>
  <TitlesOfParts>
    <vt:vector size="30" baseType="lpstr">
      <vt:lpstr>Albert Sans</vt:lpstr>
      <vt:lpstr>Arial</vt:lpstr>
      <vt:lpstr>Calibri</vt:lpstr>
      <vt:lpstr>DM Sans ExtraBold</vt:lpstr>
      <vt:lpstr>OpenSymbol</vt:lpstr>
      <vt:lpstr>Symbol</vt:lpstr>
      <vt:lpstr>Wingdings</vt:lpstr>
      <vt:lpstr>Force, Motion, and Energy - Science - 10th Grade by Slidesgo</vt:lpstr>
      <vt:lpstr>Slidesgo Final Pages</vt:lpstr>
      <vt:lpstr>Transhumanismo Actual</vt:lpstr>
      <vt:lpstr>TRANSHUMANISMO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Marqués de Condorcet</vt:lpstr>
      <vt:lpstr>Presentación de PowerPoint</vt:lpstr>
      <vt:lpstr>Presentación de PowerPoint</vt:lpstr>
      <vt:lpstr>Presentación de PowerPoint</vt:lpstr>
      <vt:lpstr>Presentación de PowerPoint</vt:lpstr>
      <vt:lpstr>Presentación de PowerPoint</vt:lpstr>
      <vt:lpstr>Presentación de PowerPoint</vt:lpstr>
      <vt:lpstr>ALAN TURING</vt:lpstr>
      <vt:lpstr>Presentación de PowerPoint</vt:lpstr>
      <vt:lpstr>GRACIAS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Rosangelica Lunar</dc:creator>
  <cp:lastModifiedBy>Rosangelica Lunar</cp:lastModifiedBy>
  <cp:revision>1</cp:revision>
  <dcterms:modified xsi:type="dcterms:W3CDTF">2026-03-02T16:28:49Z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2026-03-01T22:42:51Z</dcterms:created>
  <dc:creator>Unknown Creator</dc:creator>
  <dc:description/>
  <dc:language>en-US</dc:language>
  <cp:lastModifiedBy>Unknown Creator</cp:lastModifiedBy>
  <dcterms:modified xsi:type="dcterms:W3CDTF">2026-03-01T22:42:51Z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